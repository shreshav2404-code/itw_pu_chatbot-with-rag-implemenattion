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embeddedFontLst>
    <p:embeddedFont>
      <p:font typeface="Parkinsans SemiBold" panose="020B0604020202020204" charset="0"/>
      <p:regular r:id="rId9"/>
    </p:embeddedFont>
    <p:embeddedFont>
      <p:font typeface="Reddit Sans" panose="020B0604020202020204" charset="0"/>
      <p:regular r:id="rId10"/>
    </p:embeddedFont>
    <p:embeddedFont>
      <p:font typeface="Reddit Sans Bold" panose="020B0604020202020204" charset="0"/>
      <p:regular r:id="rId11"/>
    </p:embeddedFont>
    <p:embeddedFont>
      <p:font typeface="Reddit Sans SemiBold" panose="020B0604020202020204" charset="0"/>
      <p:regular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817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 Assist is a multimodal AI chatbot designed for Presidency University.
It uses retrieval-augmented generation and Qwen3-VL to work with university information across text and visual sources.
The team, guide, department, and logo details remain explicit placeholders for the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University information is already present, but it is spread across many pages and documents.
Important material can be difficult to locate, especially when notices are published as images rather than searchable text.
PU Assist is designed to connect questions to university sources and return answers with citations.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has two connected lanes: knowledge preparation happens offline, while answer generation happens online.
First, university documents, website content, maps, photos, and videos are cleaned, chunked, embedded, and indexed.
At question time, the system retrieves candidate passages, reranks them, and uses Qwen3-VL to generate a cited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 Assist is one assistant with three practical modes of help.
It can explain academic rules, interpret visual university information, and continue a conversation when a student needs a follow-up question.
The stack combines Qwen3-VL-30B-A3B-Instruct, Qwen3-Embedding-0.6B, BAAI bge-reranker-v2-m3, FAISS, Python, PyTorch, and an NVIDIA H200 GPU.</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system already has a fast retrieval path across 166,152 unique chunks.
Index construction takes 7.6 minutes, search takes 0.3 seconds, and model loading takes 52 seconds.
The baseline retrieval accuracy is 80%, or 8 out of 10 questions.
The ranking progression shows the opportunity clearly: correct passage ranking moves from #127 with plain search to #24 with chunk context and #1 with query rewriting. Improved accuracy remains pending evaluation.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a university knowledge system that is more accessible, traceable, and updateable.
Citations support responsible answers by showing where the information came from, while avoiding guesses.
The roadmap includes OCR for scanned PDFs, hybrid search, a web/mobile app, Kannada/Hindi support, and voice support.
Thank you. We welcome questions about the system, its current results, and the path forward.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9F2"/>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3"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9F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80066" y="743709"/>
            <a:ext cx="6475895" cy="5655129"/>
          </a:xfrm>
          <a:prstGeom prst="roundRect">
            <a:avLst>
              <a:gd name="adj" fmla="val 4500"/>
            </a:avLst>
          </a:prstGeom>
          <a:solidFill>
            <a:srgbClr val="FBEFE4"/>
          </a:solidFill>
          <a:ln/>
        </p:spPr>
        <p:txBody>
          <a:bodyPr/>
          <a:lstStyle/>
          <a:p>
            <a:endParaRPr lang="en-IN" dirty="0"/>
          </a:p>
        </p:txBody>
      </p:sp>
      <p:sp>
        <p:nvSpPr>
          <p:cNvPr id="3" name="Text 1"/>
          <p:cNvSpPr/>
          <p:nvPr/>
        </p:nvSpPr>
        <p:spPr>
          <a:xfrm>
            <a:off x="1193770" y="892749"/>
            <a:ext cx="5562461" cy="222250"/>
          </a:xfrm>
          <a:prstGeom prst="rect">
            <a:avLst/>
          </a:prstGeom>
          <a:noFill/>
          <a:ln/>
        </p:spPr>
        <p:txBody>
          <a:bodyPr wrap="none" lIns="0" tIns="0" rIns="0" bIns="0" rtlCol="0" anchor="t"/>
          <a:lstStyle/>
          <a:p>
            <a:r>
              <a:rPr lang="en-US" sz="1400" kern="100" spc="7" dirty="0">
                <a:solidFill>
                  <a:srgbClr val="35233F"/>
                </a:solidFill>
                <a:latin typeface="Reddit Sans SemiBold" pitchFamily="34" charset="0"/>
                <a:ea typeface="Reddit Sans SemiBold" pitchFamily="34" charset="-122"/>
                <a:cs typeface="Reddit Sans SemiBold" pitchFamily="34" charset="0"/>
              </a:rPr>
              <a:t>PRESIDENCY UNIVERSITY </a:t>
            </a:r>
            <a:r>
              <a:rPr lang="en-IN" sz="1400" kern="100" spc="7" dirty="0">
                <a:solidFill>
                  <a:srgbClr val="35233F"/>
                </a:solidFill>
                <a:latin typeface="Reddit Sans SemiBold" pitchFamily="34" charset="0"/>
                <a:ea typeface="Reddit Sans SemiBold" pitchFamily="34" charset="-122"/>
              </a:rPr>
              <a:t>BENGALURU</a:t>
            </a:r>
            <a:endParaRPr lang="en-US" sz="1400" kern="100" spc="7" dirty="0">
              <a:solidFill>
                <a:srgbClr val="35233F"/>
              </a:solidFill>
              <a:latin typeface="Reddit Sans SemiBold" pitchFamily="34" charset="0"/>
              <a:ea typeface="Reddit Sans SemiBold" pitchFamily="34" charset="-122"/>
            </a:endParaRPr>
          </a:p>
        </p:txBody>
      </p:sp>
      <p:sp>
        <p:nvSpPr>
          <p:cNvPr id="4" name="Text 2"/>
          <p:cNvSpPr/>
          <p:nvPr/>
        </p:nvSpPr>
        <p:spPr>
          <a:xfrm>
            <a:off x="1193770" y="1306253"/>
            <a:ext cx="4952876" cy="713184"/>
          </a:xfrm>
          <a:prstGeom prst="rect">
            <a:avLst/>
          </a:prstGeom>
          <a:noFill/>
          <a:ln/>
        </p:spPr>
        <p:txBody>
          <a:bodyPr wrap="none" lIns="0" tIns="0" rIns="0" bIns="0" rtlCol="0" anchor="t"/>
          <a:lstStyle/>
          <a:p>
            <a:pPr marL="0" indent="0" algn="l">
              <a:lnSpc>
                <a:spcPct val="87000"/>
              </a:lnSpc>
              <a:buNone/>
            </a:pPr>
            <a:r>
              <a:rPr lang="en-US" sz="5400" kern="100" spc="-97" dirty="0">
                <a:solidFill>
                  <a:srgbClr val="35233F"/>
                </a:solidFill>
                <a:latin typeface="Parkinsans SemiBold" pitchFamily="34" charset="0"/>
                <a:ea typeface="Parkinsans SemiBold" pitchFamily="34" charset="-122"/>
                <a:cs typeface="Parkinsans SemiBold" pitchFamily="34" charset="0"/>
              </a:rPr>
              <a:t>PU Assist</a:t>
            </a:r>
            <a:endParaRPr lang="en-US" sz="5400" dirty="0"/>
          </a:p>
        </p:txBody>
      </p:sp>
      <p:sp>
        <p:nvSpPr>
          <p:cNvPr id="5" name="Text 3"/>
          <p:cNvSpPr/>
          <p:nvPr/>
        </p:nvSpPr>
        <p:spPr>
          <a:xfrm>
            <a:off x="1014155" y="3603150"/>
            <a:ext cx="4952876" cy="736600"/>
          </a:xfrm>
          <a:prstGeom prst="rect">
            <a:avLst/>
          </a:prstGeom>
          <a:noFill/>
          <a:ln/>
        </p:spPr>
        <p:txBody>
          <a:bodyPr wrap="square" lIns="0" tIns="0" rIns="0" bIns="0" rtlCol="0" anchor="t">
            <a:normAutofit/>
          </a:bodyPr>
          <a:lstStyle/>
          <a:p>
            <a:pPr marL="0" indent="0" algn="l">
              <a:lnSpc>
                <a:spcPct val="121000"/>
              </a:lnSpc>
              <a:buNone/>
            </a:pPr>
            <a:r>
              <a:rPr lang="en-US" sz="2000" dirty="0">
                <a:solidFill>
                  <a:srgbClr val="35233F"/>
                </a:solidFill>
                <a:latin typeface="Reddit Sans" pitchFamily="34" charset="0"/>
                <a:ea typeface="Reddit Sans" pitchFamily="34" charset="-122"/>
                <a:cs typeface="Reddit Sans" pitchFamily="34" charset="0"/>
              </a:rPr>
              <a:t>A Multimodal AI Chatbot for Presidency University</a:t>
            </a:r>
            <a:endParaRPr lang="en-US" sz="2000" dirty="0"/>
          </a:p>
        </p:txBody>
      </p:sp>
      <p:sp>
        <p:nvSpPr>
          <p:cNvPr id="6" name="Shape 4"/>
          <p:cNvSpPr/>
          <p:nvPr/>
        </p:nvSpPr>
        <p:spPr>
          <a:xfrm>
            <a:off x="1014155" y="4577875"/>
            <a:ext cx="1634390" cy="31651"/>
          </a:xfrm>
          <a:prstGeom prst="roundRect">
            <a:avLst>
              <a:gd name="adj" fmla="val 49998"/>
            </a:avLst>
          </a:prstGeom>
          <a:solidFill>
            <a:srgbClr val="8054D9"/>
          </a:solidFill>
          <a:ln/>
        </p:spPr>
      </p:sp>
      <p:sp>
        <p:nvSpPr>
          <p:cNvPr id="7" name="Text 5"/>
          <p:cNvSpPr/>
          <p:nvPr/>
        </p:nvSpPr>
        <p:spPr>
          <a:xfrm>
            <a:off x="969914" y="4647132"/>
            <a:ext cx="6094905" cy="1094680"/>
          </a:xfrm>
          <a:prstGeom prst="rect">
            <a:avLst/>
          </a:prstGeom>
          <a:noFill/>
          <a:ln/>
        </p:spPr>
        <p:txBody>
          <a:bodyPr wrap="square" lIns="0" tIns="0" rIns="0" bIns="0" rtlCol="0" anchor="t"/>
          <a:lstStyle/>
          <a:p>
            <a:pPr marL="0" indent="0" algn="l">
              <a:lnSpc>
                <a:spcPct val="112000"/>
              </a:lnSpc>
              <a:spcAft>
                <a:spcPts val="1450"/>
              </a:spcAft>
              <a:buNone/>
            </a:pPr>
            <a:r>
              <a:rPr lang="en-US" sz="1400" dirty="0">
                <a:solidFill>
                  <a:srgbClr val="5E4B68"/>
                </a:solidFill>
                <a:latin typeface="Reddit Sans" pitchFamily="34" charset="0"/>
                <a:ea typeface="Reddit Sans" pitchFamily="34" charset="-122"/>
                <a:cs typeface="Reddit Sans" pitchFamily="34" charset="0"/>
              </a:rPr>
              <a:t>RAG-based chatbot powered by Qwen3-VL</a:t>
            </a:r>
            <a:endParaRPr lang="en-US" sz="1400" dirty="0"/>
          </a:p>
          <a:p>
            <a:pPr>
              <a:lnSpc>
                <a:spcPct val="112000"/>
              </a:lnSpc>
              <a:spcAft>
                <a:spcPts val="1450"/>
              </a:spcAft>
            </a:pPr>
            <a:r>
              <a:rPr lang="en-US" sz="1400" dirty="0">
                <a:solidFill>
                  <a:srgbClr val="5E4B68"/>
                </a:solidFill>
                <a:latin typeface="Reddit Sans" pitchFamily="34" charset="0"/>
                <a:ea typeface="Reddit Sans" pitchFamily="34" charset="-122"/>
                <a:cs typeface="Reddit Sans" pitchFamily="34" charset="0"/>
              </a:rPr>
              <a:t>Team: [</a:t>
            </a:r>
            <a:r>
              <a:rPr lang="en-US" sz="1200" dirty="0">
                <a:solidFill>
                  <a:srgbClr val="5E4B68"/>
                </a:solidFill>
                <a:latin typeface="Reddit Sans" pitchFamily="34" charset="0"/>
                <a:ea typeface="Reddit Sans" pitchFamily="34" charset="-122"/>
                <a:cs typeface="Reddit Sans" pitchFamily="34" charset="0"/>
              </a:rPr>
              <a:t>Keshav Kumar, Kishan Kumar, Priyadharshini R, Challa Lahari, Shreya Shetty J S</a:t>
            </a:r>
            <a:r>
              <a:rPr lang="en-US" sz="1400" dirty="0">
                <a:solidFill>
                  <a:srgbClr val="5E4B68"/>
                </a:solidFill>
                <a:latin typeface="Reddit Sans" pitchFamily="34" charset="0"/>
                <a:ea typeface="Reddit Sans" pitchFamily="34" charset="-122"/>
                <a:cs typeface="Reddit Sans" pitchFamily="34" charset="0"/>
              </a:rPr>
              <a:t>]</a:t>
            </a:r>
            <a:endParaRPr lang="en-US" sz="1400" dirty="0"/>
          </a:p>
          <a:p>
            <a:pPr>
              <a:lnSpc>
                <a:spcPct val="112000"/>
              </a:lnSpc>
            </a:pPr>
            <a:r>
              <a:rPr lang="en-US" sz="1400" dirty="0">
                <a:solidFill>
                  <a:srgbClr val="5E4B68"/>
                </a:solidFill>
                <a:latin typeface="Reddit Sans" pitchFamily="34" charset="0"/>
                <a:ea typeface="Reddit Sans" pitchFamily="34" charset="-122"/>
                <a:cs typeface="Reddit Sans" pitchFamily="34" charset="0"/>
              </a:rPr>
              <a:t>Guide: [Prof. Dr. Swati Chandna]  </a:t>
            </a:r>
            <a:r>
              <a:rPr lang="en-US" sz="1400" b="1" dirty="0">
                <a:solidFill>
                  <a:srgbClr val="5E4B68"/>
                </a:solidFill>
                <a:latin typeface="Reddit Sans" pitchFamily="34" charset="0"/>
                <a:ea typeface="Reddit Sans" pitchFamily="34" charset="-122"/>
                <a:cs typeface="Reddit Sans" pitchFamily="34" charset="0"/>
              </a:rPr>
              <a:t>| </a:t>
            </a:r>
            <a:r>
              <a:rPr lang="en-US" sz="1400" dirty="0">
                <a:solidFill>
                  <a:srgbClr val="5E4B68"/>
                </a:solidFill>
                <a:latin typeface="Reddit Sans" pitchFamily="34" charset="0"/>
                <a:ea typeface="Reddit Sans" pitchFamily="34" charset="-122"/>
                <a:cs typeface="Reddit Sans" pitchFamily="34" charset="0"/>
              </a:rPr>
              <a:t> Department: [PSAIAC]</a:t>
            </a:r>
            <a:endParaRPr lang="en-US" sz="1400" dirty="0"/>
          </a:p>
        </p:txBody>
      </p:sp>
      <p:sp>
        <p:nvSpPr>
          <p:cNvPr id="9" name="Text 7"/>
          <p:cNvSpPr/>
          <p:nvPr/>
        </p:nvSpPr>
        <p:spPr>
          <a:xfrm>
            <a:off x="1139862" y="6197622"/>
            <a:ext cx="3731921" cy="201216"/>
          </a:xfrm>
          <a:prstGeom prst="rect">
            <a:avLst/>
          </a:prstGeom>
          <a:noFill/>
          <a:ln/>
        </p:spPr>
        <p:txBody>
          <a:bodyPr wrap="none" lIns="0" tIns="0" rIns="0" bIns="0" rtlCol="0" anchor="t"/>
          <a:lstStyle/>
          <a:p>
            <a:pPr marL="0" indent="0" algn="l">
              <a:lnSpc>
                <a:spcPct val="100000"/>
              </a:lnSpc>
              <a:buNone/>
            </a:pPr>
            <a:endParaRPr lang="en-US" sz="1300" dirty="0"/>
          </a:p>
        </p:txBody>
      </p:sp>
      <p:pic>
        <p:nvPicPr>
          <p:cNvPr id="13" name="Picture 12">
            <a:extLst>
              <a:ext uri="{FF2B5EF4-FFF2-40B4-BE49-F238E27FC236}">
                <a16:creationId xmlns:a16="http://schemas.microsoft.com/office/drawing/2014/main" id="{9B4B2D9C-FA0C-D811-FB40-4177A34A1AF4}"/>
              </a:ext>
            </a:extLst>
          </p:cNvPr>
          <p:cNvPicPr>
            <a:picLocks noChangeAspect="1"/>
          </p:cNvPicPr>
          <p:nvPr/>
        </p:nvPicPr>
        <p:blipFill>
          <a:blip r:embed="rId3"/>
          <a:stretch>
            <a:fillRect/>
          </a:stretch>
        </p:blipFill>
        <p:spPr>
          <a:xfrm>
            <a:off x="2594156" y="2048027"/>
            <a:ext cx="1226730" cy="1206823"/>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20713"/>
            <a:ext cx="11582110" cy="222250"/>
          </a:xfrm>
          <a:prstGeom prst="rect">
            <a:avLst/>
          </a:prstGeom>
          <a:noFill/>
          <a:ln/>
        </p:spPr>
        <p:txBody>
          <a:bodyPr wrap="none" lIns="0" tIns="0" rIns="0" bIns="0" rtlCol="0" anchor="t"/>
          <a:lstStyle/>
          <a:p>
            <a:pPr marL="0" indent="0" algn="l">
              <a:lnSpc>
                <a:spcPct val="104000"/>
              </a:lnSpc>
              <a:buNone/>
            </a:pPr>
            <a:r>
              <a:rPr lang="en-US" sz="1400" kern="100" spc="7" dirty="0">
                <a:solidFill>
                  <a:srgbClr val="8054D9"/>
                </a:solidFill>
                <a:latin typeface="Reddit Sans SemiBold" pitchFamily="34" charset="0"/>
                <a:ea typeface="Reddit Sans SemiBold" pitchFamily="34" charset="-122"/>
                <a:cs typeface="Reddit Sans SemiBold" pitchFamily="34" charset="0"/>
              </a:rPr>
              <a:t>THE INFORMATION LANDSCAPE</a:t>
            </a:r>
            <a:endParaRPr lang="en-US" sz="1400" dirty="0"/>
          </a:p>
        </p:txBody>
      </p:sp>
      <p:sp>
        <p:nvSpPr>
          <p:cNvPr id="3" name="Text 1"/>
          <p:cNvSpPr/>
          <p:nvPr/>
        </p:nvSpPr>
        <p:spPr>
          <a:xfrm>
            <a:off x="609585" y="950722"/>
            <a:ext cx="10972526" cy="877689"/>
          </a:xfrm>
          <a:prstGeom prst="rect">
            <a:avLst/>
          </a:prstGeom>
          <a:noFill/>
          <a:ln/>
        </p:spPr>
        <p:txBody>
          <a:bodyPr wrap="square" lIns="0" tIns="0" rIns="0" bIns="0" rtlCol="0" anchor="t">
            <a:normAutofit lnSpcReduction="10000"/>
          </a:bodyPr>
          <a:lstStyle/>
          <a:p>
            <a:pPr marL="0" indent="0" algn="l">
              <a:lnSpc>
                <a:spcPct val="90000"/>
              </a:lnSpc>
              <a:buNone/>
            </a:pPr>
            <a:r>
              <a:rPr lang="en-US" sz="3200" kern="100" spc="-38" dirty="0">
                <a:solidFill>
                  <a:srgbClr val="35233F"/>
                </a:solidFill>
                <a:latin typeface="Parkinsans SemiBold" pitchFamily="34" charset="0"/>
                <a:ea typeface="Parkinsans SemiBold" pitchFamily="34" charset="-122"/>
                <a:cs typeface="Parkinsans SemiBold" pitchFamily="34" charset="0"/>
              </a:rPr>
              <a:t>University information is hard to find and harder to interpret</a:t>
            </a:r>
            <a:endParaRPr lang="en-US" sz="3200" dirty="0"/>
          </a:p>
        </p:txBody>
      </p:sp>
      <p:sp>
        <p:nvSpPr>
          <p:cNvPr id="4" name="Shape 2"/>
          <p:cNvSpPr/>
          <p:nvPr/>
        </p:nvSpPr>
        <p:spPr>
          <a:xfrm>
            <a:off x="609585" y="2001639"/>
            <a:ext cx="5333867" cy="1918891"/>
          </a:xfrm>
          <a:prstGeom prst="roundRect">
            <a:avLst>
              <a:gd name="adj" fmla="val 9828"/>
            </a:avLst>
          </a:prstGeom>
          <a:solidFill>
            <a:srgbClr val="F0E7F4"/>
          </a:solidFill>
          <a:ln/>
        </p:spPr>
      </p:sp>
      <p:pic>
        <p:nvPicPr>
          <p:cNvPr id="5" name="Image 0" descr="preencoded.png"/>
          <p:cNvPicPr>
            <a:picLocks noChangeAspect="1"/>
          </p:cNvPicPr>
          <p:nvPr/>
        </p:nvPicPr>
        <p:blipFill>
          <a:blip r:embed="rId3"/>
          <a:stretch>
            <a:fillRect/>
          </a:stretch>
        </p:blipFill>
        <p:spPr>
          <a:xfrm>
            <a:off x="838179" y="2154039"/>
            <a:ext cx="419090" cy="419100"/>
          </a:xfrm>
          <a:prstGeom prst="rect">
            <a:avLst/>
          </a:prstGeom>
        </p:spPr>
      </p:pic>
      <p:sp>
        <p:nvSpPr>
          <p:cNvPr id="6" name="Text 3"/>
          <p:cNvSpPr/>
          <p:nvPr/>
        </p:nvSpPr>
        <p:spPr>
          <a:xfrm>
            <a:off x="838179" y="2704902"/>
            <a:ext cx="487667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Fragmented sources</a:t>
            </a:r>
            <a:endParaRPr lang="en-US" sz="2000" dirty="0"/>
          </a:p>
        </p:txBody>
      </p:sp>
      <p:sp>
        <p:nvSpPr>
          <p:cNvPr id="7" name="Text 4"/>
          <p:cNvSpPr/>
          <p:nvPr/>
        </p:nvSpPr>
        <p:spPr>
          <a:xfrm>
            <a:off x="838179" y="3160752"/>
            <a:ext cx="487667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4,333 web pages and 2,522 documents create a fragmented information landscape.</a:t>
            </a:r>
            <a:endParaRPr lang="en-US" sz="1650" dirty="0"/>
          </a:p>
        </p:txBody>
      </p:sp>
      <p:sp>
        <p:nvSpPr>
          <p:cNvPr id="8" name="Shape 5"/>
          <p:cNvSpPr/>
          <p:nvPr/>
        </p:nvSpPr>
        <p:spPr>
          <a:xfrm>
            <a:off x="6248244" y="2001639"/>
            <a:ext cx="5333867" cy="1918891"/>
          </a:xfrm>
          <a:prstGeom prst="roundRect">
            <a:avLst>
              <a:gd name="adj" fmla="val 9828"/>
            </a:avLst>
          </a:prstGeom>
          <a:solidFill>
            <a:srgbClr val="F0E7F4"/>
          </a:solidFill>
          <a:ln/>
        </p:spPr>
      </p:sp>
      <p:pic>
        <p:nvPicPr>
          <p:cNvPr id="9" name="Image 1" descr="preencoded.png"/>
          <p:cNvPicPr>
            <a:picLocks noChangeAspect="1"/>
          </p:cNvPicPr>
          <p:nvPr/>
        </p:nvPicPr>
        <p:blipFill>
          <a:blip r:embed="rId4"/>
          <a:stretch>
            <a:fillRect/>
          </a:stretch>
        </p:blipFill>
        <p:spPr>
          <a:xfrm>
            <a:off x="6476838" y="2154039"/>
            <a:ext cx="419090" cy="419100"/>
          </a:xfrm>
          <a:prstGeom prst="rect">
            <a:avLst/>
          </a:prstGeom>
        </p:spPr>
      </p:pic>
      <p:sp>
        <p:nvSpPr>
          <p:cNvPr id="10" name="Text 6"/>
          <p:cNvSpPr/>
          <p:nvPr/>
        </p:nvSpPr>
        <p:spPr>
          <a:xfrm>
            <a:off x="6476838" y="2704902"/>
            <a:ext cx="487667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Hard to locate</a:t>
            </a:r>
            <a:endParaRPr lang="en-US" sz="2000" dirty="0"/>
          </a:p>
        </p:txBody>
      </p:sp>
      <p:sp>
        <p:nvSpPr>
          <p:cNvPr id="11" name="Text 7"/>
          <p:cNvSpPr/>
          <p:nvPr/>
        </p:nvSpPr>
        <p:spPr>
          <a:xfrm>
            <a:off x="6476838" y="3160752"/>
            <a:ext cx="487667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Students struggle to locate academic rules and regulations.</a:t>
            </a:r>
            <a:endParaRPr lang="en-US" sz="1650" dirty="0"/>
          </a:p>
        </p:txBody>
      </p:sp>
      <p:sp>
        <p:nvSpPr>
          <p:cNvPr id="12" name="Shape 8"/>
          <p:cNvSpPr/>
          <p:nvPr/>
        </p:nvSpPr>
        <p:spPr>
          <a:xfrm>
            <a:off x="609585" y="4225330"/>
            <a:ext cx="5333867" cy="1918891"/>
          </a:xfrm>
          <a:prstGeom prst="roundRect">
            <a:avLst>
              <a:gd name="adj" fmla="val 9828"/>
            </a:avLst>
          </a:prstGeom>
          <a:solidFill>
            <a:srgbClr val="F0E7F4"/>
          </a:solidFill>
          <a:ln/>
        </p:spPr>
      </p:sp>
      <p:pic>
        <p:nvPicPr>
          <p:cNvPr id="13" name="Image 2" descr="preencoded.png"/>
          <p:cNvPicPr>
            <a:picLocks noChangeAspect="1"/>
          </p:cNvPicPr>
          <p:nvPr/>
        </p:nvPicPr>
        <p:blipFill>
          <a:blip r:embed="rId5"/>
          <a:stretch>
            <a:fillRect/>
          </a:stretch>
        </p:blipFill>
        <p:spPr>
          <a:xfrm>
            <a:off x="838179" y="4377730"/>
            <a:ext cx="419090" cy="419100"/>
          </a:xfrm>
          <a:prstGeom prst="rect">
            <a:avLst/>
          </a:prstGeom>
        </p:spPr>
      </p:pic>
      <p:sp>
        <p:nvSpPr>
          <p:cNvPr id="14" name="Text 9"/>
          <p:cNvSpPr/>
          <p:nvPr/>
        </p:nvSpPr>
        <p:spPr>
          <a:xfrm>
            <a:off x="838179" y="4928592"/>
            <a:ext cx="487667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Hard to search</a:t>
            </a:r>
            <a:endParaRPr lang="en-US" sz="2000" dirty="0"/>
          </a:p>
        </p:txBody>
      </p:sp>
      <p:sp>
        <p:nvSpPr>
          <p:cNvPr id="15" name="Text 10"/>
          <p:cNvSpPr/>
          <p:nvPr/>
        </p:nvSpPr>
        <p:spPr>
          <a:xfrm>
            <a:off x="838179" y="5384443"/>
            <a:ext cx="5105272" cy="303808"/>
          </a:xfrm>
          <a:prstGeom prst="rect">
            <a:avLst/>
          </a:prstGeom>
          <a:noFill/>
          <a:ln/>
        </p:spPr>
        <p:txBody>
          <a:bodyPr wrap="none" lIns="0" tIns="0" rIns="0" bIns="0" rtlCol="0" anchor="t"/>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Notices often appear as images, not searchable text.</a:t>
            </a:r>
            <a:endParaRPr lang="en-US" sz="1650" dirty="0"/>
          </a:p>
        </p:txBody>
      </p:sp>
      <p:sp>
        <p:nvSpPr>
          <p:cNvPr id="16" name="Shape 11"/>
          <p:cNvSpPr/>
          <p:nvPr/>
        </p:nvSpPr>
        <p:spPr>
          <a:xfrm>
            <a:off x="6248244" y="4225330"/>
            <a:ext cx="5333867" cy="1918891"/>
          </a:xfrm>
          <a:prstGeom prst="rect">
            <a:avLst/>
          </a:prstGeom>
          <a:solidFill>
            <a:srgbClr val="FFE6C6"/>
          </a:solidFill>
          <a:ln/>
        </p:spPr>
      </p:sp>
      <p:pic>
        <p:nvPicPr>
          <p:cNvPr id="17" name="Image 3" descr="preencoded.png"/>
          <p:cNvPicPr>
            <a:picLocks noChangeAspect="1"/>
          </p:cNvPicPr>
          <p:nvPr/>
        </p:nvPicPr>
        <p:blipFill>
          <a:blip r:embed="rId6"/>
          <a:stretch>
            <a:fillRect/>
          </a:stretch>
        </p:blipFill>
        <p:spPr>
          <a:xfrm>
            <a:off x="6476838" y="4377730"/>
            <a:ext cx="419090" cy="419100"/>
          </a:xfrm>
          <a:prstGeom prst="rect">
            <a:avLst/>
          </a:prstGeom>
        </p:spPr>
      </p:pic>
      <p:sp>
        <p:nvSpPr>
          <p:cNvPr id="18" name="Text 12"/>
          <p:cNvSpPr/>
          <p:nvPr/>
        </p:nvSpPr>
        <p:spPr>
          <a:xfrm>
            <a:off x="6476838" y="4928592"/>
            <a:ext cx="4876678" cy="317500"/>
          </a:xfrm>
          <a:prstGeom prst="rect">
            <a:avLst/>
          </a:prstGeom>
          <a:noFill/>
          <a:ln/>
        </p:spPr>
        <p:txBody>
          <a:bodyPr wrap="none" lIns="0" tIns="0" rIns="0" bIns="0" rtlCol="0" anchor="t"/>
          <a:lstStyle/>
          <a:p>
            <a:pPr marL="0" indent="0" algn="l">
              <a:lnSpc>
                <a:spcPct val="104000"/>
              </a:lnSpc>
              <a:buNone/>
            </a:pPr>
            <a:r>
              <a:rPr lang="en-US" sz="2000" dirty="0">
                <a:solidFill>
                  <a:srgbClr val="000000"/>
                </a:solidFill>
                <a:latin typeface="Reddit Sans SemiBold" pitchFamily="34" charset="0"/>
                <a:ea typeface="Reddit Sans SemiBold" pitchFamily="34" charset="-122"/>
                <a:cs typeface="Reddit Sans SemiBold" pitchFamily="34" charset="0"/>
              </a:rPr>
              <a:t>A clearer route</a:t>
            </a:r>
            <a:endParaRPr lang="en-US" sz="2000" dirty="0"/>
          </a:p>
        </p:txBody>
      </p:sp>
      <p:sp>
        <p:nvSpPr>
          <p:cNvPr id="19" name="Text 13"/>
          <p:cNvSpPr/>
          <p:nvPr/>
        </p:nvSpPr>
        <p:spPr>
          <a:xfrm>
            <a:off x="6476838" y="5384443"/>
            <a:ext cx="487667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000000"/>
                </a:solidFill>
                <a:latin typeface="Reddit Sans" pitchFamily="34" charset="0"/>
                <a:ea typeface="Reddit Sans" pitchFamily="34" charset="-122"/>
                <a:cs typeface="Reddit Sans" pitchFamily="34" charset="0"/>
              </a:rPr>
              <a:t>PU Assist answers text and image questions from university sources with citations.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0713"/>
            <a:ext cx="11582110" cy="222250"/>
          </a:xfrm>
          <a:prstGeom prst="rect">
            <a:avLst/>
          </a:prstGeom>
          <a:noFill/>
          <a:ln/>
        </p:spPr>
        <p:txBody>
          <a:bodyPr wrap="none" lIns="0" tIns="0" rIns="0" bIns="0" rtlCol="0" anchor="t"/>
          <a:lstStyle/>
          <a:p>
            <a:pPr marL="0" indent="0" algn="l">
              <a:lnSpc>
                <a:spcPct val="104000"/>
              </a:lnSpc>
              <a:buNone/>
            </a:pPr>
            <a:r>
              <a:rPr lang="en-US" sz="1400" kern="100" spc="7" dirty="0">
                <a:solidFill>
                  <a:srgbClr val="8054D9"/>
                </a:solidFill>
                <a:latin typeface="Reddit Sans SemiBold" pitchFamily="34" charset="0"/>
                <a:ea typeface="Reddit Sans SemiBold" pitchFamily="34" charset="-122"/>
                <a:cs typeface="Reddit Sans SemiBold" pitchFamily="34" charset="0"/>
              </a:rPr>
              <a:t>HOW PU ASSIST WORKS</a:t>
            </a:r>
            <a:endParaRPr lang="en-US" sz="1400" dirty="0"/>
          </a:p>
        </p:txBody>
      </p:sp>
      <p:sp>
        <p:nvSpPr>
          <p:cNvPr id="3" name="Text 1"/>
          <p:cNvSpPr/>
          <p:nvPr/>
        </p:nvSpPr>
        <p:spPr>
          <a:xfrm>
            <a:off x="609585" y="950722"/>
            <a:ext cx="10972526" cy="438845"/>
          </a:xfrm>
          <a:prstGeom prst="rect">
            <a:avLst/>
          </a:prstGeom>
          <a:noFill/>
          <a:ln/>
        </p:spPr>
        <p:txBody>
          <a:bodyPr wrap="none" lIns="0" tIns="0" rIns="0" bIns="0" rtlCol="0" anchor="t"/>
          <a:lstStyle/>
          <a:p>
            <a:pPr marL="0" indent="0" algn="l">
              <a:lnSpc>
                <a:spcPct val="90000"/>
              </a:lnSpc>
              <a:buNone/>
            </a:pPr>
            <a:r>
              <a:rPr lang="en-US" sz="3200" kern="100" spc="-38" dirty="0">
                <a:solidFill>
                  <a:srgbClr val="35233F"/>
                </a:solidFill>
                <a:latin typeface="Parkinsans SemiBold" pitchFamily="34" charset="0"/>
                <a:ea typeface="Parkinsans SemiBold" pitchFamily="34" charset="-122"/>
                <a:cs typeface="Parkinsans SemiBold" pitchFamily="34" charset="0"/>
              </a:rPr>
              <a:t>PU Assist turns scattered sources into cited answers</a:t>
            </a:r>
            <a:endParaRPr lang="en-US" sz="3200" dirty="0"/>
          </a:p>
        </p:txBody>
      </p:sp>
      <p:sp>
        <p:nvSpPr>
          <p:cNvPr id="4" name="Shape 2"/>
          <p:cNvSpPr/>
          <p:nvPr/>
        </p:nvSpPr>
        <p:spPr>
          <a:xfrm>
            <a:off x="609585" y="1562795"/>
            <a:ext cx="10972526" cy="2177455"/>
          </a:xfrm>
          <a:prstGeom prst="roundRect">
            <a:avLst>
              <a:gd name="adj" fmla="val 8661"/>
            </a:avLst>
          </a:prstGeom>
          <a:solidFill>
            <a:srgbClr val="F0E7F4"/>
          </a:solidFill>
          <a:ln/>
        </p:spPr>
      </p:sp>
      <p:sp>
        <p:nvSpPr>
          <p:cNvPr id="5" name="Shape 3"/>
          <p:cNvSpPr/>
          <p:nvPr/>
        </p:nvSpPr>
        <p:spPr>
          <a:xfrm>
            <a:off x="838179" y="1664395"/>
            <a:ext cx="3131067" cy="326827"/>
          </a:xfrm>
          <a:prstGeom prst="roundRect">
            <a:avLst>
              <a:gd name="adj" fmla="val 46163"/>
            </a:avLst>
          </a:prstGeom>
          <a:solidFill>
            <a:srgbClr val="E0D5F6"/>
          </a:solidFill>
          <a:ln/>
        </p:spPr>
      </p:sp>
      <p:sp>
        <p:nvSpPr>
          <p:cNvPr id="6" name="Text 4"/>
          <p:cNvSpPr/>
          <p:nvPr/>
        </p:nvSpPr>
        <p:spPr>
          <a:xfrm>
            <a:off x="963886" y="1732261"/>
            <a:ext cx="3489238" cy="201216"/>
          </a:xfrm>
          <a:prstGeom prst="rect">
            <a:avLst/>
          </a:prstGeom>
          <a:noFill/>
          <a:ln/>
        </p:spPr>
        <p:txBody>
          <a:bodyPr wrap="none" lIns="0" tIns="0" rIns="0" bIns="0" rtlCol="0" anchor="t"/>
          <a:lstStyle/>
          <a:p>
            <a:pPr marL="0" indent="0" algn="l">
              <a:lnSpc>
                <a:spcPct val="100000"/>
              </a:lnSpc>
              <a:buNone/>
            </a:pPr>
            <a:r>
              <a:rPr lang="en-US" sz="1300" kern="100" spc="7" dirty="0">
                <a:solidFill>
                  <a:srgbClr val="35233F"/>
                </a:solidFill>
                <a:latin typeface="Reddit Sans SemiBold" pitchFamily="34" charset="0"/>
                <a:ea typeface="Reddit Sans SemiBold" pitchFamily="34" charset="-122"/>
                <a:cs typeface="Reddit Sans SemiBold" pitchFamily="34" charset="0"/>
              </a:rPr>
              <a:t>OFFLINE KNOWLEDGE PREPARATION</a:t>
            </a:r>
            <a:endParaRPr lang="en-US" sz="1300" dirty="0"/>
          </a:p>
        </p:txBody>
      </p:sp>
      <p:sp>
        <p:nvSpPr>
          <p:cNvPr id="7" name="Shape 5"/>
          <p:cNvSpPr/>
          <p:nvPr/>
        </p:nvSpPr>
        <p:spPr>
          <a:xfrm>
            <a:off x="838179" y="2111871"/>
            <a:ext cx="452029" cy="366713"/>
          </a:xfrm>
          <a:prstGeom prst="roundRect">
            <a:avLst>
              <a:gd name="adj" fmla="val 17142"/>
            </a:avLst>
          </a:prstGeom>
          <a:solidFill>
            <a:srgbClr val="8054D9"/>
          </a:solidFill>
          <a:ln w="12700">
            <a:solidFill>
              <a:srgbClr val="C6BBDC"/>
            </a:solidFill>
            <a:prstDash val="solid"/>
          </a:ln>
        </p:spPr>
      </p:sp>
      <p:sp>
        <p:nvSpPr>
          <p:cNvPr id="8" name="Text 6"/>
          <p:cNvSpPr/>
          <p:nvPr/>
        </p:nvSpPr>
        <p:spPr>
          <a:xfrm>
            <a:off x="955651" y="2190452"/>
            <a:ext cx="826670"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01</a:t>
            </a:r>
            <a:endParaRPr lang="en-US" sz="1650" dirty="0"/>
          </a:p>
        </p:txBody>
      </p:sp>
      <p:sp>
        <p:nvSpPr>
          <p:cNvPr id="9" name="Text 7"/>
          <p:cNvSpPr/>
          <p:nvPr/>
        </p:nvSpPr>
        <p:spPr>
          <a:xfrm>
            <a:off x="838179" y="2575421"/>
            <a:ext cx="327651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Collect</a:t>
            </a:r>
            <a:endParaRPr lang="en-US" sz="2000" dirty="0"/>
          </a:p>
        </p:txBody>
      </p:sp>
      <p:sp>
        <p:nvSpPr>
          <p:cNvPr id="10" name="Text 8"/>
          <p:cNvSpPr/>
          <p:nvPr/>
        </p:nvSpPr>
        <p:spPr>
          <a:xfrm>
            <a:off x="838179" y="3031272"/>
            <a:ext cx="327651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University documents, website, maps, photos and videos.</a:t>
            </a:r>
            <a:endParaRPr lang="en-US" sz="1650" dirty="0"/>
          </a:p>
        </p:txBody>
      </p:sp>
      <p:sp>
        <p:nvSpPr>
          <p:cNvPr id="11" name="Shape 9"/>
          <p:cNvSpPr/>
          <p:nvPr/>
        </p:nvSpPr>
        <p:spPr>
          <a:xfrm>
            <a:off x="4571886" y="2111871"/>
            <a:ext cx="491716" cy="366713"/>
          </a:xfrm>
          <a:prstGeom prst="roundRect">
            <a:avLst>
              <a:gd name="adj" fmla="val 17142"/>
            </a:avLst>
          </a:prstGeom>
          <a:solidFill>
            <a:srgbClr val="8054D9"/>
          </a:solidFill>
          <a:ln w="12700">
            <a:solidFill>
              <a:srgbClr val="C6BBDC"/>
            </a:solidFill>
            <a:prstDash val="solid"/>
          </a:ln>
        </p:spPr>
      </p:sp>
      <p:sp>
        <p:nvSpPr>
          <p:cNvPr id="12" name="Text 10"/>
          <p:cNvSpPr/>
          <p:nvPr/>
        </p:nvSpPr>
        <p:spPr>
          <a:xfrm>
            <a:off x="4689358" y="2190452"/>
            <a:ext cx="866356"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02</a:t>
            </a:r>
            <a:endParaRPr lang="en-US" sz="1650" dirty="0"/>
          </a:p>
        </p:txBody>
      </p:sp>
      <p:sp>
        <p:nvSpPr>
          <p:cNvPr id="13" name="Text 11"/>
          <p:cNvSpPr/>
          <p:nvPr/>
        </p:nvSpPr>
        <p:spPr>
          <a:xfrm>
            <a:off x="4571886" y="2575421"/>
            <a:ext cx="3047924"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Prepare</a:t>
            </a:r>
            <a:endParaRPr lang="en-US" sz="2000" dirty="0"/>
          </a:p>
        </p:txBody>
      </p:sp>
      <p:sp>
        <p:nvSpPr>
          <p:cNvPr id="14" name="Text 12"/>
          <p:cNvSpPr/>
          <p:nvPr/>
        </p:nvSpPr>
        <p:spPr>
          <a:xfrm>
            <a:off x="4571886" y="3031272"/>
            <a:ext cx="3047924"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Cleaning → chunking → embeddings.</a:t>
            </a:r>
            <a:endParaRPr lang="en-US" sz="1650" dirty="0"/>
          </a:p>
        </p:txBody>
      </p:sp>
      <p:sp>
        <p:nvSpPr>
          <p:cNvPr id="15" name="Shape 13"/>
          <p:cNvSpPr/>
          <p:nvPr/>
        </p:nvSpPr>
        <p:spPr>
          <a:xfrm>
            <a:off x="8076998" y="2111871"/>
            <a:ext cx="491121" cy="366713"/>
          </a:xfrm>
          <a:prstGeom prst="roundRect">
            <a:avLst>
              <a:gd name="adj" fmla="val 17142"/>
            </a:avLst>
          </a:prstGeom>
          <a:solidFill>
            <a:srgbClr val="8054D9"/>
          </a:solidFill>
          <a:ln w="12700">
            <a:solidFill>
              <a:srgbClr val="C6BBDC"/>
            </a:solidFill>
            <a:prstDash val="solid"/>
          </a:ln>
        </p:spPr>
      </p:sp>
      <p:sp>
        <p:nvSpPr>
          <p:cNvPr id="16" name="Text 14"/>
          <p:cNvSpPr/>
          <p:nvPr/>
        </p:nvSpPr>
        <p:spPr>
          <a:xfrm>
            <a:off x="8194470" y="2190452"/>
            <a:ext cx="865761"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03</a:t>
            </a:r>
            <a:endParaRPr lang="en-US" sz="1650" dirty="0"/>
          </a:p>
        </p:txBody>
      </p:sp>
      <p:sp>
        <p:nvSpPr>
          <p:cNvPr id="17" name="Text 15"/>
          <p:cNvSpPr/>
          <p:nvPr/>
        </p:nvSpPr>
        <p:spPr>
          <a:xfrm>
            <a:off x="8076998" y="2575421"/>
            <a:ext cx="327651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Index</a:t>
            </a:r>
            <a:endParaRPr lang="en-US" sz="2000" dirty="0"/>
          </a:p>
        </p:txBody>
      </p:sp>
      <p:sp>
        <p:nvSpPr>
          <p:cNvPr id="18" name="Text 16"/>
          <p:cNvSpPr/>
          <p:nvPr/>
        </p:nvSpPr>
        <p:spPr>
          <a:xfrm>
            <a:off x="8076998" y="3031272"/>
            <a:ext cx="327651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FAISS index with </a:t>
            </a:r>
            <a:r>
              <a:rPr lang="en-US" sz="1650" b="1" dirty="0">
                <a:solidFill>
                  <a:srgbClr val="35233F"/>
                </a:solidFill>
                <a:latin typeface="Reddit Sans Bold" pitchFamily="34" charset="0"/>
                <a:ea typeface="Reddit Sans Bold" pitchFamily="34" charset="-122"/>
                <a:cs typeface="Reddit Sans Bold" pitchFamily="34" charset="0"/>
              </a:rPr>
              <a:t>166,152 cleaned chunks</a:t>
            </a:r>
            <a:r>
              <a:rPr lang="en-US" sz="1650" dirty="0">
                <a:solidFill>
                  <a:srgbClr val="35233F"/>
                </a:solidFill>
                <a:latin typeface="Reddit Sans" pitchFamily="34" charset="0"/>
                <a:ea typeface="Reddit Sans" pitchFamily="34" charset="-122"/>
                <a:cs typeface="Reddit Sans" pitchFamily="34" charset="0"/>
              </a:rPr>
              <a:t>.</a:t>
            </a:r>
            <a:endParaRPr lang="en-US" sz="1650" dirty="0"/>
          </a:p>
        </p:txBody>
      </p:sp>
      <p:sp>
        <p:nvSpPr>
          <p:cNvPr id="19" name="Shape 17"/>
          <p:cNvSpPr/>
          <p:nvPr/>
        </p:nvSpPr>
        <p:spPr>
          <a:xfrm>
            <a:off x="609585" y="4045049"/>
            <a:ext cx="10972526" cy="2177455"/>
          </a:xfrm>
          <a:prstGeom prst="roundRect">
            <a:avLst>
              <a:gd name="adj" fmla="val 8661"/>
            </a:avLst>
          </a:prstGeom>
          <a:solidFill>
            <a:srgbClr val="F0E7F4"/>
          </a:solidFill>
          <a:ln/>
        </p:spPr>
      </p:sp>
      <p:sp>
        <p:nvSpPr>
          <p:cNvPr id="20" name="Shape 18"/>
          <p:cNvSpPr/>
          <p:nvPr/>
        </p:nvSpPr>
        <p:spPr>
          <a:xfrm>
            <a:off x="838179" y="4146649"/>
            <a:ext cx="2681320" cy="326827"/>
          </a:xfrm>
          <a:prstGeom prst="roundRect">
            <a:avLst>
              <a:gd name="adj" fmla="val 46163"/>
            </a:avLst>
          </a:prstGeom>
          <a:solidFill>
            <a:srgbClr val="E0D5F6"/>
          </a:solidFill>
          <a:ln/>
        </p:spPr>
      </p:sp>
      <p:sp>
        <p:nvSpPr>
          <p:cNvPr id="21" name="Text 19"/>
          <p:cNvSpPr/>
          <p:nvPr/>
        </p:nvSpPr>
        <p:spPr>
          <a:xfrm>
            <a:off x="963886" y="4214515"/>
            <a:ext cx="3039490" cy="201216"/>
          </a:xfrm>
          <a:prstGeom prst="rect">
            <a:avLst/>
          </a:prstGeom>
          <a:noFill/>
          <a:ln/>
        </p:spPr>
        <p:txBody>
          <a:bodyPr wrap="none" lIns="0" tIns="0" rIns="0" bIns="0" rtlCol="0" anchor="t"/>
          <a:lstStyle/>
          <a:p>
            <a:pPr marL="0" indent="0" algn="l">
              <a:lnSpc>
                <a:spcPct val="100000"/>
              </a:lnSpc>
              <a:buNone/>
            </a:pPr>
            <a:r>
              <a:rPr lang="en-US" sz="1300" kern="100" spc="7" dirty="0">
                <a:solidFill>
                  <a:srgbClr val="35233F"/>
                </a:solidFill>
                <a:latin typeface="Reddit Sans SemiBold" pitchFamily="34" charset="0"/>
                <a:ea typeface="Reddit Sans SemiBold" pitchFamily="34" charset="-122"/>
                <a:cs typeface="Reddit Sans SemiBold" pitchFamily="34" charset="0"/>
              </a:rPr>
              <a:t>ONLINE ANSWER GENERATION</a:t>
            </a:r>
            <a:endParaRPr lang="en-US" sz="1300" dirty="0"/>
          </a:p>
        </p:txBody>
      </p:sp>
      <p:sp>
        <p:nvSpPr>
          <p:cNvPr id="22" name="Shape 20"/>
          <p:cNvSpPr/>
          <p:nvPr/>
        </p:nvSpPr>
        <p:spPr>
          <a:xfrm>
            <a:off x="838179" y="4594126"/>
            <a:ext cx="452029" cy="366713"/>
          </a:xfrm>
          <a:prstGeom prst="roundRect">
            <a:avLst>
              <a:gd name="adj" fmla="val 17142"/>
            </a:avLst>
          </a:prstGeom>
          <a:solidFill>
            <a:srgbClr val="8054D9"/>
          </a:solidFill>
          <a:ln w="12700">
            <a:solidFill>
              <a:srgbClr val="C6BBDC"/>
            </a:solidFill>
            <a:prstDash val="solid"/>
          </a:ln>
        </p:spPr>
      </p:sp>
      <p:sp>
        <p:nvSpPr>
          <p:cNvPr id="23" name="Text 21"/>
          <p:cNvSpPr/>
          <p:nvPr/>
        </p:nvSpPr>
        <p:spPr>
          <a:xfrm>
            <a:off x="955651" y="4672707"/>
            <a:ext cx="826670"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01</a:t>
            </a:r>
            <a:endParaRPr lang="en-US" sz="1650" dirty="0"/>
          </a:p>
        </p:txBody>
      </p:sp>
      <p:sp>
        <p:nvSpPr>
          <p:cNvPr id="24" name="Text 22"/>
          <p:cNvSpPr/>
          <p:nvPr/>
        </p:nvSpPr>
        <p:spPr>
          <a:xfrm>
            <a:off x="838179" y="5057676"/>
            <a:ext cx="327651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Understand</a:t>
            </a:r>
            <a:endParaRPr lang="en-US" sz="2000" dirty="0"/>
          </a:p>
        </p:txBody>
      </p:sp>
      <p:sp>
        <p:nvSpPr>
          <p:cNvPr id="25" name="Text 23"/>
          <p:cNvSpPr/>
          <p:nvPr/>
        </p:nvSpPr>
        <p:spPr>
          <a:xfrm>
            <a:off x="838179" y="5513526"/>
            <a:ext cx="327651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Student query or image → Qwen3-VL.</a:t>
            </a:r>
            <a:endParaRPr lang="en-US" sz="1650" dirty="0"/>
          </a:p>
        </p:txBody>
      </p:sp>
      <p:sp>
        <p:nvSpPr>
          <p:cNvPr id="26" name="Shape 24"/>
          <p:cNvSpPr/>
          <p:nvPr/>
        </p:nvSpPr>
        <p:spPr>
          <a:xfrm>
            <a:off x="4571886" y="4594126"/>
            <a:ext cx="491716" cy="366713"/>
          </a:xfrm>
          <a:prstGeom prst="roundRect">
            <a:avLst>
              <a:gd name="adj" fmla="val 17142"/>
            </a:avLst>
          </a:prstGeom>
          <a:solidFill>
            <a:srgbClr val="8054D9"/>
          </a:solidFill>
          <a:ln w="12700">
            <a:solidFill>
              <a:srgbClr val="C6BBDC"/>
            </a:solidFill>
            <a:prstDash val="solid"/>
          </a:ln>
        </p:spPr>
      </p:sp>
      <p:sp>
        <p:nvSpPr>
          <p:cNvPr id="27" name="Text 25"/>
          <p:cNvSpPr/>
          <p:nvPr/>
        </p:nvSpPr>
        <p:spPr>
          <a:xfrm>
            <a:off x="4689358" y="4672707"/>
            <a:ext cx="866356"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02</a:t>
            </a:r>
            <a:endParaRPr lang="en-US" sz="1650" dirty="0"/>
          </a:p>
        </p:txBody>
      </p:sp>
      <p:sp>
        <p:nvSpPr>
          <p:cNvPr id="28" name="Text 26"/>
          <p:cNvSpPr/>
          <p:nvPr/>
        </p:nvSpPr>
        <p:spPr>
          <a:xfrm>
            <a:off x="4571886" y="5057676"/>
            <a:ext cx="3047924"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Retrieve</a:t>
            </a:r>
            <a:endParaRPr lang="en-US" sz="2000" dirty="0"/>
          </a:p>
        </p:txBody>
      </p:sp>
      <p:sp>
        <p:nvSpPr>
          <p:cNvPr id="29" name="Text 27"/>
          <p:cNvSpPr/>
          <p:nvPr/>
        </p:nvSpPr>
        <p:spPr>
          <a:xfrm>
            <a:off x="4571886" y="5513526"/>
            <a:ext cx="3047924"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Qwen3 embeddings → FAISS top 50.</a:t>
            </a:r>
            <a:endParaRPr lang="en-US" sz="1650" dirty="0"/>
          </a:p>
        </p:txBody>
      </p:sp>
      <p:sp>
        <p:nvSpPr>
          <p:cNvPr id="30" name="Shape 28"/>
          <p:cNvSpPr/>
          <p:nvPr/>
        </p:nvSpPr>
        <p:spPr>
          <a:xfrm>
            <a:off x="8076998" y="4594126"/>
            <a:ext cx="491121" cy="366713"/>
          </a:xfrm>
          <a:prstGeom prst="roundRect">
            <a:avLst>
              <a:gd name="adj" fmla="val 17142"/>
            </a:avLst>
          </a:prstGeom>
          <a:solidFill>
            <a:srgbClr val="8054D9"/>
          </a:solidFill>
          <a:ln w="12700">
            <a:solidFill>
              <a:srgbClr val="C6BBDC"/>
            </a:solidFill>
            <a:prstDash val="solid"/>
          </a:ln>
        </p:spPr>
      </p:sp>
      <p:sp>
        <p:nvSpPr>
          <p:cNvPr id="31" name="Text 29"/>
          <p:cNvSpPr/>
          <p:nvPr/>
        </p:nvSpPr>
        <p:spPr>
          <a:xfrm>
            <a:off x="8194470" y="4672707"/>
            <a:ext cx="865761"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03</a:t>
            </a:r>
            <a:endParaRPr lang="en-US" sz="1650" dirty="0"/>
          </a:p>
        </p:txBody>
      </p:sp>
      <p:sp>
        <p:nvSpPr>
          <p:cNvPr id="32" name="Text 30"/>
          <p:cNvSpPr/>
          <p:nvPr/>
        </p:nvSpPr>
        <p:spPr>
          <a:xfrm>
            <a:off x="8076998" y="5057676"/>
            <a:ext cx="3276518"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Answer</a:t>
            </a:r>
            <a:endParaRPr lang="en-US" sz="2000" dirty="0"/>
          </a:p>
        </p:txBody>
      </p:sp>
      <p:sp>
        <p:nvSpPr>
          <p:cNvPr id="33" name="Text 31"/>
          <p:cNvSpPr/>
          <p:nvPr/>
        </p:nvSpPr>
        <p:spPr>
          <a:xfrm>
            <a:off x="8076998" y="5513526"/>
            <a:ext cx="3276518"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Reranker selects top 6 → Qwen3-VL generates a cited answer.</a:t>
            </a:r>
            <a:endParaRPr lang="en-US" sz="1650" dirty="0"/>
          </a:p>
        </p:txBody>
      </p:sp>
      <p:sp>
        <p:nvSpPr>
          <p:cNvPr id="34" name="Shape 32"/>
          <p:cNvSpPr/>
          <p:nvPr/>
        </p:nvSpPr>
        <p:spPr>
          <a:xfrm>
            <a:off x="4336942" y="2111871"/>
            <a:ext cx="12700" cy="1526778"/>
          </a:xfrm>
          <a:prstGeom prst="rect">
            <a:avLst/>
          </a:prstGeom>
          <a:solidFill>
            <a:srgbClr val="8054D9"/>
          </a:solidFill>
          <a:ln/>
        </p:spPr>
      </p:sp>
      <p:sp>
        <p:nvSpPr>
          <p:cNvPr id="35" name="Shape 33"/>
          <p:cNvSpPr/>
          <p:nvPr/>
        </p:nvSpPr>
        <p:spPr>
          <a:xfrm>
            <a:off x="7842054" y="2111871"/>
            <a:ext cx="12700" cy="1526778"/>
          </a:xfrm>
          <a:prstGeom prst="rect">
            <a:avLst/>
          </a:prstGeom>
          <a:solidFill>
            <a:srgbClr val="8054D9"/>
          </a:solidFill>
          <a:ln/>
        </p:spPr>
      </p:sp>
      <p:sp>
        <p:nvSpPr>
          <p:cNvPr id="36" name="Shape 34"/>
          <p:cNvSpPr/>
          <p:nvPr/>
        </p:nvSpPr>
        <p:spPr>
          <a:xfrm>
            <a:off x="4336942" y="4594126"/>
            <a:ext cx="12700" cy="1526778"/>
          </a:xfrm>
          <a:prstGeom prst="rect">
            <a:avLst/>
          </a:prstGeom>
          <a:solidFill>
            <a:srgbClr val="8054D9"/>
          </a:solidFill>
          <a:ln/>
        </p:spPr>
      </p:sp>
      <p:sp>
        <p:nvSpPr>
          <p:cNvPr id="37" name="Shape 35"/>
          <p:cNvSpPr/>
          <p:nvPr/>
        </p:nvSpPr>
        <p:spPr>
          <a:xfrm>
            <a:off x="7842054" y="4594126"/>
            <a:ext cx="12700" cy="1526778"/>
          </a:xfrm>
          <a:prstGeom prst="rect">
            <a:avLst/>
          </a:prstGeom>
          <a:solidFill>
            <a:srgbClr val="8054D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20713"/>
            <a:ext cx="11582110" cy="222250"/>
          </a:xfrm>
          <a:prstGeom prst="rect">
            <a:avLst/>
          </a:prstGeom>
          <a:noFill/>
          <a:ln/>
        </p:spPr>
        <p:txBody>
          <a:bodyPr wrap="none" lIns="0" tIns="0" rIns="0" bIns="0" rtlCol="0" anchor="t"/>
          <a:lstStyle/>
          <a:p>
            <a:pPr marL="0" indent="0" algn="l">
              <a:lnSpc>
                <a:spcPct val="104000"/>
              </a:lnSpc>
              <a:buNone/>
            </a:pPr>
            <a:r>
              <a:rPr lang="en-US" sz="1400" kern="100" spc="7" dirty="0">
                <a:solidFill>
                  <a:srgbClr val="8054D9"/>
                </a:solidFill>
                <a:latin typeface="Reddit Sans SemiBold" pitchFamily="34" charset="0"/>
                <a:ea typeface="Reddit Sans SemiBold" pitchFamily="34" charset="-122"/>
                <a:cs typeface="Reddit Sans SemiBold" pitchFamily="34" charset="0"/>
              </a:rPr>
              <a:t>THREE MODES OF ASSISTANCE</a:t>
            </a:r>
            <a:endParaRPr lang="en-US" sz="1400" dirty="0"/>
          </a:p>
        </p:txBody>
      </p:sp>
      <p:sp>
        <p:nvSpPr>
          <p:cNvPr id="3" name="Text 1"/>
          <p:cNvSpPr/>
          <p:nvPr/>
        </p:nvSpPr>
        <p:spPr>
          <a:xfrm>
            <a:off x="609585" y="950722"/>
            <a:ext cx="10972526" cy="438845"/>
          </a:xfrm>
          <a:prstGeom prst="rect">
            <a:avLst/>
          </a:prstGeom>
          <a:noFill/>
          <a:ln/>
        </p:spPr>
        <p:txBody>
          <a:bodyPr wrap="none" lIns="0" tIns="0" rIns="0" bIns="0" rtlCol="0" anchor="t"/>
          <a:lstStyle/>
          <a:p>
            <a:pPr marL="0" indent="0" algn="l">
              <a:lnSpc>
                <a:spcPct val="90000"/>
              </a:lnSpc>
              <a:buNone/>
            </a:pPr>
            <a:r>
              <a:rPr lang="en-US" sz="3200" kern="100" spc="-38" dirty="0">
                <a:solidFill>
                  <a:srgbClr val="35233F"/>
                </a:solidFill>
                <a:latin typeface="Parkinsans SemiBold" pitchFamily="34" charset="0"/>
                <a:ea typeface="Parkinsans SemiBold" pitchFamily="34" charset="-122"/>
                <a:cs typeface="Parkinsans SemiBold" pitchFamily="34" charset="0"/>
              </a:rPr>
              <a:t>One assistant, three ways to help</a:t>
            </a:r>
            <a:endParaRPr lang="en-US" sz="3200" dirty="0"/>
          </a:p>
        </p:txBody>
      </p:sp>
      <p:sp>
        <p:nvSpPr>
          <p:cNvPr id="4" name="Shape 2"/>
          <p:cNvSpPr/>
          <p:nvPr/>
        </p:nvSpPr>
        <p:spPr>
          <a:xfrm>
            <a:off x="609585" y="1877120"/>
            <a:ext cx="3454314" cy="2149673"/>
          </a:xfrm>
          <a:prstGeom prst="roundRect">
            <a:avLst>
              <a:gd name="adj" fmla="val 8773"/>
            </a:avLst>
          </a:prstGeom>
          <a:solidFill>
            <a:srgbClr val="F0E7F4"/>
          </a:solidFill>
          <a:ln/>
        </p:spPr>
      </p:sp>
      <p:sp>
        <p:nvSpPr>
          <p:cNvPr id="5" name="Text 3"/>
          <p:cNvSpPr/>
          <p:nvPr/>
        </p:nvSpPr>
        <p:spPr>
          <a:xfrm>
            <a:off x="838179" y="2431157"/>
            <a:ext cx="2997125"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Academic Intelligence</a:t>
            </a:r>
            <a:endParaRPr lang="en-US" sz="2000" dirty="0"/>
          </a:p>
        </p:txBody>
      </p:sp>
      <p:sp>
        <p:nvSpPr>
          <p:cNvPr id="6" name="Text 4"/>
          <p:cNvSpPr/>
          <p:nvPr/>
        </p:nvSpPr>
        <p:spPr>
          <a:xfrm>
            <a:off x="838179" y="2887008"/>
            <a:ext cx="2997125" cy="911423"/>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Exam rules and regulations, explained from university sources.</a:t>
            </a:r>
            <a:endParaRPr lang="en-US" sz="1650" dirty="0"/>
          </a:p>
        </p:txBody>
      </p:sp>
      <p:sp>
        <p:nvSpPr>
          <p:cNvPr id="7" name="Shape 5"/>
          <p:cNvSpPr/>
          <p:nvPr/>
        </p:nvSpPr>
        <p:spPr>
          <a:xfrm>
            <a:off x="4368691" y="1877120"/>
            <a:ext cx="3454314" cy="2149673"/>
          </a:xfrm>
          <a:prstGeom prst="roundRect">
            <a:avLst>
              <a:gd name="adj" fmla="val 8773"/>
            </a:avLst>
          </a:prstGeom>
          <a:solidFill>
            <a:srgbClr val="F0E7F4"/>
          </a:solidFill>
          <a:ln/>
        </p:spPr>
      </p:sp>
      <p:sp>
        <p:nvSpPr>
          <p:cNvPr id="8" name="Text 6"/>
          <p:cNvSpPr/>
          <p:nvPr/>
        </p:nvSpPr>
        <p:spPr>
          <a:xfrm>
            <a:off x="4597285" y="2431157"/>
            <a:ext cx="2997125"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Vision &amp; Navigation</a:t>
            </a:r>
            <a:endParaRPr lang="en-US" sz="2000" dirty="0"/>
          </a:p>
        </p:txBody>
      </p:sp>
      <p:sp>
        <p:nvSpPr>
          <p:cNvPr id="9" name="Text 7"/>
          <p:cNvSpPr/>
          <p:nvPr/>
        </p:nvSpPr>
        <p:spPr>
          <a:xfrm>
            <a:off x="4597285" y="2887008"/>
            <a:ext cx="2997125" cy="911423"/>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Notices, timetables and campus maps, including image-based questions.</a:t>
            </a:r>
            <a:endParaRPr lang="en-US" sz="1650" dirty="0"/>
          </a:p>
        </p:txBody>
      </p:sp>
      <p:sp>
        <p:nvSpPr>
          <p:cNvPr id="10" name="Shape 8"/>
          <p:cNvSpPr/>
          <p:nvPr/>
        </p:nvSpPr>
        <p:spPr>
          <a:xfrm>
            <a:off x="8127797" y="1877120"/>
            <a:ext cx="3454314" cy="2149673"/>
          </a:xfrm>
          <a:prstGeom prst="roundRect">
            <a:avLst>
              <a:gd name="adj" fmla="val 8773"/>
            </a:avLst>
          </a:prstGeom>
          <a:solidFill>
            <a:srgbClr val="F0E7F4"/>
          </a:solidFill>
          <a:ln/>
        </p:spPr>
      </p:sp>
      <p:sp>
        <p:nvSpPr>
          <p:cNvPr id="11" name="Text 9"/>
          <p:cNvSpPr/>
          <p:nvPr/>
        </p:nvSpPr>
        <p:spPr>
          <a:xfrm>
            <a:off x="8356391" y="2431157"/>
            <a:ext cx="2997125"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Conversational Assistance</a:t>
            </a:r>
            <a:endParaRPr lang="en-US" sz="2000" dirty="0"/>
          </a:p>
        </p:txBody>
      </p:sp>
      <p:sp>
        <p:nvSpPr>
          <p:cNvPr id="12" name="Text 10"/>
          <p:cNvSpPr/>
          <p:nvPr/>
        </p:nvSpPr>
        <p:spPr>
          <a:xfrm>
            <a:off x="8356391" y="2887008"/>
            <a:ext cx="2997125" cy="911423"/>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Follow-up questions with citations that keep the source visible.</a:t>
            </a:r>
            <a:endParaRPr lang="en-US" sz="1650" dirty="0"/>
          </a:p>
        </p:txBody>
      </p:sp>
      <p:sp>
        <p:nvSpPr>
          <p:cNvPr id="13" name="Text 11"/>
          <p:cNvSpPr/>
          <p:nvPr/>
        </p:nvSpPr>
        <p:spPr>
          <a:xfrm>
            <a:off x="609585" y="4236660"/>
            <a:ext cx="11582110" cy="240010"/>
          </a:xfrm>
          <a:prstGeom prst="rect">
            <a:avLst/>
          </a:prstGeom>
          <a:noFill/>
          <a:ln/>
        </p:spPr>
        <p:txBody>
          <a:bodyPr wrap="none" lIns="0" tIns="0" rIns="0" bIns="0" rtlCol="0" anchor="t"/>
          <a:lstStyle/>
          <a:p>
            <a:pPr marL="0" indent="0" algn="l">
              <a:lnSpc>
                <a:spcPct val="112000"/>
              </a:lnSpc>
              <a:buNone/>
            </a:pPr>
            <a:r>
              <a:rPr lang="en-US" sz="1400" b="1" dirty="0">
                <a:solidFill>
                  <a:srgbClr val="5E4B68"/>
                </a:solidFill>
                <a:latin typeface="Reddit Sans Bold" pitchFamily="34" charset="0"/>
                <a:ea typeface="Reddit Sans Bold" pitchFamily="34" charset="-122"/>
                <a:cs typeface="Reddit Sans Bold" pitchFamily="34" charset="0"/>
              </a:rPr>
              <a:t>Stack:</a:t>
            </a:r>
            <a:r>
              <a:rPr lang="en-US" sz="1400" dirty="0">
                <a:solidFill>
                  <a:srgbClr val="5E4B68"/>
                </a:solidFill>
                <a:latin typeface="Reddit Sans" pitchFamily="34" charset="0"/>
                <a:ea typeface="Reddit Sans" pitchFamily="34" charset="-122"/>
                <a:cs typeface="Reddit Sans" pitchFamily="34" charset="0"/>
              </a:rPr>
              <a:t> Qwen3-VL-30B-A3B-Instruct · Qwen3-Embedding-0.6B · BAAI bge-reranker-v2-m3 · FAISS · Python · PyTorch · NVIDIA H200 GPU</a:t>
            </a:r>
            <a:endParaRPr lang="en-US" sz="1400" dirty="0"/>
          </a:p>
        </p:txBody>
      </p:sp>
      <p:sp>
        <p:nvSpPr>
          <p:cNvPr id="14" name="Shape 12"/>
          <p:cNvSpPr/>
          <p:nvPr/>
        </p:nvSpPr>
        <p:spPr>
          <a:xfrm>
            <a:off x="2022424" y="1562795"/>
            <a:ext cx="628634" cy="628650"/>
          </a:xfrm>
          <a:prstGeom prst="ellipse">
            <a:avLst/>
          </a:prstGeom>
          <a:solidFill>
            <a:srgbClr val="8054D9"/>
          </a:solidFill>
          <a:ln w="12700">
            <a:solidFill>
              <a:srgbClr val="C6BBDC"/>
            </a:solidFill>
            <a:prstDash val="solid"/>
          </a:ln>
        </p:spPr>
      </p:sp>
      <p:pic>
        <p:nvPicPr>
          <p:cNvPr id="15" name="Image 0" descr="preencoded.png"/>
          <p:cNvPicPr>
            <a:picLocks noChangeAspect="1"/>
          </p:cNvPicPr>
          <p:nvPr/>
        </p:nvPicPr>
        <p:blipFill>
          <a:blip r:embed="rId3"/>
          <a:stretch>
            <a:fillRect/>
          </a:stretch>
        </p:blipFill>
        <p:spPr>
          <a:xfrm>
            <a:off x="2192283" y="1732657"/>
            <a:ext cx="288918" cy="288925"/>
          </a:xfrm>
          <a:prstGeom prst="rect">
            <a:avLst/>
          </a:prstGeom>
        </p:spPr>
      </p:pic>
      <p:sp>
        <p:nvSpPr>
          <p:cNvPr id="16" name="Shape 13"/>
          <p:cNvSpPr/>
          <p:nvPr/>
        </p:nvSpPr>
        <p:spPr>
          <a:xfrm>
            <a:off x="5781530" y="1562795"/>
            <a:ext cx="628634" cy="628650"/>
          </a:xfrm>
          <a:prstGeom prst="ellipse">
            <a:avLst/>
          </a:prstGeom>
          <a:solidFill>
            <a:srgbClr val="8054D9"/>
          </a:solidFill>
          <a:ln w="12700">
            <a:solidFill>
              <a:srgbClr val="C6BBDC"/>
            </a:solidFill>
            <a:prstDash val="solid"/>
          </a:ln>
        </p:spPr>
      </p:sp>
      <p:pic>
        <p:nvPicPr>
          <p:cNvPr id="17" name="Image 1" descr="preencoded.png"/>
          <p:cNvPicPr>
            <a:picLocks noChangeAspect="1"/>
          </p:cNvPicPr>
          <p:nvPr/>
        </p:nvPicPr>
        <p:blipFill>
          <a:blip r:embed="rId4"/>
          <a:stretch>
            <a:fillRect/>
          </a:stretch>
        </p:blipFill>
        <p:spPr>
          <a:xfrm>
            <a:off x="5951389" y="1732657"/>
            <a:ext cx="288918" cy="288925"/>
          </a:xfrm>
          <a:prstGeom prst="rect">
            <a:avLst/>
          </a:prstGeom>
        </p:spPr>
      </p:pic>
      <p:sp>
        <p:nvSpPr>
          <p:cNvPr id="18" name="Shape 14"/>
          <p:cNvSpPr/>
          <p:nvPr/>
        </p:nvSpPr>
        <p:spPr>
          <a:xfrm>
            <a:off x="9540636" y="1562795"/>
            <a:ext cx="628634" cy="628650"/>
          </a:xfrm>
          <a:prstGeom prst="ellipse">
            <a:avLst/>
          </a:prstGeom>
          <a:solidFill>
            <a:srgbClr val="8054D9"/>
          </a:solidFill>
          <a:ln w="12700">
            <a:solidFill>
              <a:srgbClr val="C6BBDC"/>
            </a:solidFill>
            <a:prstDash val="solid"/>
          </a:ln>
        </p:spPr>
      </p:sp>
      <p:pic>
        <p:nvPicPr>
          <p:cNvPr id="19" name="Image 2" descr="preencoded.png"/>
          <p:cNvPicPr>
            <a:picLocks noChangeAspect="1"/>
          </p:cNvPicPr>
          <p:nvPr/>
        </p:nvPicPr>
        <p:blipFill>
          <a:blip r:embed="rId5"/>
          <a:stretch>
            <a:fillRect/>
          </a:stretch>
        </p:blipFill>
        <p:spPr>
          <a:xfrm>
            <a:off x="9710495" y="1732657"/>
            <a:ext cx="288918" cy="288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239713"/>
            <a:ext cx="11582110" cy="222250"/>
          </a:xfrm>
          <a:prstGeom prst="rect">
            <a:avLst/>
          </a:prstGeom>
          <a:noFill/>
          <a:ln/>
        </p:spPr>
        <p:txBody>
          <a:bodyPr wrap="none" lIns="0" tIns="0" rIns="0" bIns="0" rtlCol="0" anchor="t"/>
          <a:lstStyle/>
          <a:p>
            <a:pPr marL="0" indent="0" algn="l">
              <a:lnSpc>
                <a:spcPct val="104000"/>
              </a:lnSpc>
              <a:buNone/>
            </a:pPr>
            <a:r>
              <a:rPr lang="en-US" sz="1400" kern="100" spc="7" dirty="0">
                <a:solidFill>
                  <a:srgbClr val="8054D9"/>
                </a:solidFill>
                <a:latin typeface="Reddit Sans SemiBold" pitchFamily="34" charset="0"/>
                <a:ea typeface="Reddit Sans SemiBold" pitchFamily="34" charset="-122"/>
                <a:cs typeface="Reddit Sans SemiBold" pitchFamily="34" charset="0"/>
              </a:rPr>
              <a:t>CURRENT SYSTEM READOUT</a:t>
            </a:r>
            <a:endParaRPr lang="en-US" sz="1400" dirty="0"/>
          </a:p>
        </p:txBody>
      </p:sp>
      <p:sp>
        <p:nvSpPr>
          <p:cNvPr id="3" name="Text 1"/>
          <p:cNvSpPr/>
          <p:nvPr/>
        </p:nvSpPr>
        <p:spPr>
          <a:xfrm>
            <a:off x="609585" y="569722"/>
            <a:ext cx="10972526" cy="438845"/>
          </a:xfrm>
          <a:prstGeom prst="rect">
            <a:avLst/>
          </a:prstGeom>
          <a:noFill/>
          <a:ln/>
        </p:spPr>
        <p:txBody>
          <a:bodyPr wrap="none" lIns="0" tIns="0" rIns="0" bIns="0" rtlCol="0" anchor="t"/>
          <a:lstStyle/>
          <a:p>
            <a:pPr marL="0" indent="0" algn="l">
              <a:lnSpc>
                <a:spcPct val="90000"/>
              </a:lnSpc>
              <a:buNone/>
            </a:pPr>
            <a:r>
              <a:rPr lang="en-US" sz="3200" kern="100" spc="-38" dirty="0">
                <a:solidFill>
                  <a:srgbClr val="35233F"/>
                </a:solidFill>
                <a:latin typeface="Parkinsans SemiBold" pitchFamily="34" charset="0"/>
                <a:ea typeface="Parkinsans SemiBold" pitchFamily="34" charset="-122"/>
                <a:cs typeface="Parkinsans SemiBold" pitchFamily="34" charset="0"/>
              </a:rPr>
              <a:t>Retrieval is fast; ranking quality is the next frontier</a:t>
            </a:r>
            <a:endParaRPr lang="en-US" sz="3200" dirty="0"/>
          </a:p>
        </p:txBody>
      </p:sp>
      <p:sp>
        <p:nvSpPr>
          <p:cNvPr id="4" name="Text 2"/>
          <p:cNvSpPr/>
          <p:nvPr/>
        </p:nvSpPr>
        <p:spPr>
          <a:xfrm>
            <a:off x="609585" y="1231769"/>
            <a:ext cx="1965871" cy="581124"/>
          </a:xfrm>
          <a:prstGeom prst="rect">
            <a:avLst/>
          </a:prstGeom>
          <a:noFill/>
          <a:ln/>
        </p:spPr>
        <p:txBody>
          <a:bodyPr wrap="none" lIns="0" tIns="0" rIns="0" bIns="0" rtlCol="0" anchor="t"/>
          <a:lstStyle/>
          <a:p>
            <a:pPr marL="0" indent="0" algn="l">
              <a:lnSpc>
                <a:spcPct val="87000"/>
              </a:lnSpc>
              <a:buNone/>
            </a:pPr>
            <a:r>
              <a:rPr lang="en-US" sz="4400" kern="100" spc="-79" dirty="0">
                <a:solidFill>
                  <a:srgbClr val="35233F"/>
                </a:solidFill>
                <a:latin typeface="Parkinsans SemiBold" pitchFamily="34" charset="0"/>
                <a:ea typeface="Parkinsans SemiBold" pitchFamily="34" charset="-122"/>
                <a:cs typeface="Parkinsans SemiBold" pitchFamily="34" charset="0"/>
              </a:rPr>
              <a:t>166,152</a:t>
            </a:r>
            <a:endParaRPr lang="en-US" sz="4400" dirty="0"/>
          </a:p>
        </p:txBody>
      </p:sp>
      <p:sp>
        <p:nvSpPr>
          <p:cNvPr id="5" name="Text 3"/>
          <p:cNvSpPr/>
          <p:nvPr/>
        </p:nvSpPr>
        <p:spPr>
          <a:xfrm>
            <a:off x="609585" y="1975961"/>
            <a:ext cx="2194465" cy="240010"/>
          </a:xfrm>
          <a:prstGeom prst="rect">
            <a:avLst/>
          </a:prstGeom>
          <a:noFill/>
          <a:ln/>
        </p:spPr>
        <p:txBody>
          <a:bodyPr wrap="none" lIns="0" tIns="0" rIns="0" bIns="0" rtlCol="0" anchor="t"/>
          <a:lstStyle/>
          <a:p>
            <a:pPr marL="0" indent="0" algn="l">
              <a:lnSpc>
                <a:spcPct val="112000"/>
              </a:lnSpc>
              <a:buNone/>
            </a:pPr>
            <a:r>
              <a:rPr lang="en-US" sz="1400" dirty="0">
                <a:solidFill>
                  <a:srgbClr val="5E4B68"/>
                </a:solidFill>
                <a:latin typeface="Reddit Sans" pitchFamily="34" charset="0"/>
                <a:ea typeface="Reddit Sans" pitchFamily="34" charset="-122"/>
                <a:cs typeface="Reddit Sans" pitchFamily="34" charset="0"/>
              </a:rPr>
              <a:t>unique chunks</a:t>
            </a:r>
            <a:endParaRPr lang="en-US" sz="1400" dirty="0"/>
          </a:p>
        </p:txBody>
      </p:sp>
      <p:sp>
        <p:nvSpPr>
          <p:cNvPr id="6" name="Text 4"/>
          <p:cNvSpPr/>
          <p:nvPr/>
        </p:nvSpPr>
        <p:spPr>
          <a:xfrm>
            <a:off x="3032644" y="1231769"/>
            <a:ext cx="1737277" cy="581124"/>
          </a:xfrm>
          <a:prstGeom prst="rect">
            <a:avLst/>
          </a:prstGeom>
          <a:noFill/>
          <a:ln/>
        </p:spPr>
        <p:txBody>
          <a:bodyPr wrap="none" lIns="0" tIns="0" rIns="0" bIns="0" rtlCol="0" anchor="t"/>
          <a:lstStyle/>
          <a:p>
            <a:pPr marL="0" indent="0" algn="l">
              <a:lnSpc>
                <a:spcPct val="87000"/>
              </a:lnSpc>
              <a:buNone/>
            </a:pPr>
            <a:r>
              <a:rPr lang="en-US" sz="4400" kern="100" spc="-79" dirty="0">
                <a:solidFill>
                  <a:srgbClr val="35233F"/>
                </a:solidFill>
                <a:latin typeface="Parkinsans SemiBold" pitchFamily="34" charset="0"/>
                <a:ea typeface="Parkinsans SemiBold" pitchFamily="34" charset="-122"/>
                <a:cs typeface="Parkinsans SemiBold" pitchFamily="34" charset="0"/>
              </a:rPr>
              <a:t>7.6 </a:t>
            </a:r>
            <a:r>
              <a:rPr lang="en-US" sz="2000" kern="100" spc="-79" dirty="0">
                <a:solidFill>
                  <a:srgbClr val="35233F"/>
                </a:solidFill>
                <a:latin typeface="Parkinsans SemiBold" pitchFamily="34" charset="0"/>
                <a:ea typeface="Parkinsans SemiBold" pitchFamily="34" charset="-122"/>
                <a:cs typeface="Parkinsans SemiBold" pitchFamily="34" charset="0"/>
              </a:rPr>
              <a:t>min</a:t>
            </a:r>
            <a:endParaRPr lang="en-US" sz="4400" dirty="0"/>
          </a:p>
        </p:txBody>
      </p:sp>
      <p:sp>
        <p:nvSpPr>
          <p:cNvPr id="7" name="Text 5"/>
          <p:cNvSpPr/>
          <p:nvPr/>
        </p:nvSpPr>
        <p:spPr>
          <a:xfrm>
            <a:off x="3032644" y="1975961"/>
            <a:ext cx="1965871" cy="240010"/>
          </a:xfrm>
          <a:prstGeom prst="rect">
            <a:avLst/>
          </a:prstGeom>
          <a:noFill/>
          <a:ln/>
        </p:spPr>
        <p:txBody>
          <a:bodyPr wrap="none" lIns="0" tIns="0" rIns="0" bIns="0" rtlCol="0" anchor="t"/>
          <a:lstStyle/>
          <a:p>
            <a:pPr marL="0" indent="0" algn="l">
              <a:lnSpc>
                <a:spcPct val="112000"/>
              </a:lnSpc>
              <a:buNone/>
            </a:pPr>
            <a:r>
              <a:rPr lang="en-US" sz="1400" dirty="0">
                <a:solidFill>
                  <a:srgbClr val="5E4B68"/>
                </a:solidFill>
                <a:latin typeface="Reddit Sans" pitchFamily="34" charset="0"/>
                <a:ea typeface="Reddit Sans" pitchFamily="34" charset="-122"/>
                <a:cs typeface="Reddit Sans" pitchFamily="34" charset="0"/>
              </a:rPr>
              <a:t>index build</a:t>
            </a:r>
            <a:endParaRPr lang="en-US" sz="1400" dirty="0"/>
          </a:p>
        </p:txBody>
      </p:sp>
      <p:sp>
        <p:nvSpPr>
          <p:cNvPr id="8" name="Text 6"/>
          <p:cNvSpPr/>
          <p:nvPr/>
        </p:nvSpPr>
        <p:spPr>
          <a:xfrm>
            <a:off x="5227110" y="1231769"/>
            <a:ext cx="1737376" cy="581124"/>
          </a:xfrm>
          <a:prstGeom prst="rect">
            <a:avLst/>
          </a:prstGeom>
          <a:noFill/>
          <a:ln/>
        </p:spPr>
        <p:txBody>
          <a:bodyPr wrap="none" lIns="0" tIns="0" rIns="0" bIns="0" rtlCol="0" anchor="t"/>
          <a:lstStyle/>
          <a:p>
            <a:pPr marL="0" indent="0" algn="l">
              <a:lnSpc>
                <a:spcPct val="87000"/>
              </a:lnSpc>
              <a:buNone/>
            </a:pPr>
            <a:r>
              <a:rPr lang="en-US" sz="4400" kern="100" spc="-79" dirty="0">
                <a:solidFill>
                  <a:srgbClr val="35233F"/>
                </a:solidFill>
                <a:latin typeface="Parkinsans SemiBold" pitchFamily="34" charset="0"/>
                <a:ea typeface="Parkinsans SemiBold" pitchFamily="34" charset="-122"/>
                <a:cs typeface="Parkinsans SemiBold" pitchFamily="34" charset="0"/>
              </a:rPr>
              <a:t>0.3 </a:t>
            </a:r>
            <a:r>
              <a:rPr lang="en-US" sz="2000" kern="100" spc="-79" dirty="0">
                <a:solidFill>
                  <a:srgbClr val="35233F"/>
                </a:solidFill>
                <a:latin typeface="Parkinsans SemiBold" pitchFamily="34" charset="0"/>
                <a:ea typeface="Parkinsans SemiBold" pitchFamily="34" charset="-122"/>
                <a:cs typeface="Parkinsans SemiBold" pitchFamily="34" charset="0"/>
              </a:rPr>
              <a:t>sec</a:t>
            </a:r>
            <a:endParaRPr lang="en-US" sz="4400" dirty="0"/>
          </a:p>
        </p:txBody>
      </p:sp>
      <p:sp>
        <p:nvSpPr>
          <p:cNvPr id="9" name="Text 7"/>
          <p:cNvSpPr/>
          <p:nvPr/>
        </p:nvSpPr>
        <p:spPr>
          <a:xfrm>
            <a:off x="5227110" y="1975961"/>
            <a:ext cx="1965970" cy="240010"/>
          </a:xfrm>
          <a:prstGeom prst="rect">
            <a:avLst/>
          </a:prstGeom>
          <a:noFill/>
          <a:ln/>
        </p:spPr>
        <p:txBody>
          <a:bodyPr wrap="none" lIns="0" tIns="0" rIns="0" bIns="0" rtlCol="0" anchor="t"/>
          <a:lstStyle/>
          <a:p>
            <a:pPr marL="0" indent="0" algn="l">
              <a:lnSpc>
                <a:spcPct val="112000"/>
              </a:lnSpc>
              <a:buNone/>
            </a:pPr>
            <a:r>
              <a:rPr lang="en-US" sz="1400" dirty="0">
                <a:solidFill>
                  <a:srgbClr val="5E4B68"/>
                </a:solidFill>
                <a:latin typeface="Reddit Sans" pitchFamily="34" charset="0"/>
                <a:ea typeface="Reddit Sans" pitchFamily="34" charset="-122"/>
                <a:cs typeface="Reddit Sans" pitchFamily="34" charset="0"/>
              </a:rPr>
              <a:t>search</a:t>
            </a:r>
            <a:endParaRPr lang="en-US" sz="1400" dirty="0"/>
          </a:p>
        </p:txBody>
      </p:sp>
      <p:sp>
        <p:nvSpPr>
          <p:cNvPr id="10" name="Text 8"/>
          <p:cNvSpPr/>
          <p:nvPr/>
        </p:nvSpPr>
        <p:spPr>
          <a:xfrm>
            <a:off x="7421674" y="1231769"/>
            <a:ext cx="1737277" cy="581124"/>
          </a:xfrm>
          <a:prstGeom prst="rect">
            <a:avLst/>
          </a:prstGeom>
          <a:noFill/>
          <a:ln/>
        </p:spPr>
        <p:txBody>
          <a:bodyPr wrap="none" lIns="0" tIns="0" rIns="0" bIns="0" rtlCol="0" anchor="t"/>
          <a:lstStyle/>
          <a:p>
            <a:pPr marL="0" indent="0" algn="l">
              <a:lnSpc>
                <a:spcPct val="87000"/>
              </a:lnSpc>
              <a:buNone/>
            </a:pPr>
            <a:r>
              <a:rPr lang="en-US" sz="4400" kern="100" spc="-79" dirty="0">
                <a:solidFill>
                  <a:srgbClr val="35233F"/>
                </a:solidFill>
                <a:latin typeface="Parkinsans SemiBold" pitchFamily="34" charset="0"/>
                <a:ea typeface="Parkinsans SemiBold" pitchFamily="34" charset="-122"/>
                <a:cs typeface="Parkinsans SemiBold" pitchFamily="34" charset="0"/>
              </a:rPr>
              <a:t>52 </a:t>
            </a:r>
            <a:r>
              <a:rPr lang="en-US" sz="2000" kern="100" spc="-79" dirty="0">
                <a:solidFill>
                  <a:srgbClr val="35233F"/>
                </a:solidFill>
                <a:latin typeface="Parkinsans SemiBold" pitchFamily="34" charset="0"/>
                <a:ea typeface="Parkinsans SemiBold" pitchFamily="34" charset="-122"/>
                <a:cs typeface="Parkinsans SemiBold" pitchFamily="34" charset="0"/>
              </a:rPr>
              <a:t>sec</a:t>
            </a:r>
            <a:endParaRPr lang="en-US" sz="4400" dirty="0"/>
          </a:p>
        </p:txBody>
      </p:sp>
      <p:sp>
        <p:nvSpPr>
          <p:cNvPr id="11" name="Text 9"/>
          <p:cNvSpPr/>
          <p:nvPr/>
        </p:nvSpPr>
        <p:spPr>
          <a:xfrm>
            <a:off x="7421674" y="1975961"/>
            <a:ext cx="1965871" cy="240010"/>
          </a:xfrm>
          <a:prstGeom prst="rect">
            <a:avLst/>
          </a:prstGeom>
          <a:noFill/>
          <a:ln/>
        </p:spPr>
        <p:txBody>
          <a:bodyPr wrap="none" lIns="0" tIns="0" rIns="0" bIns="0" rtlCol="0" anchor="t"/>
          <a:lstStyle/>
          <a:p>
            <a:pPr marL="0" indent="0" algn="l">
              <a:lnSpc>
                <a:spcPct val="112000"/>
              </a:lnSpc>
              <a:buNone/>
            </a:pPr>
            <a:r>
              <a:rPr lang="en-US" sz="1400" dirty="0">
                <a:solidFill>
                  <a:srgbClr val="5E4B68"/>
                </a:solidFill>
                <a:latin typeface="Reddit Sans" pitchFamily="34" charset="0"/>
                <a:ea typeface="Reddit Sans" pitchFamily="34" charset="-122"/>
                <a:cs typeface="Reddit Sans" pitchFamily="34" charset="0"/>
              </a:rPr>
              <a:t>model loading</a:t>
            </a:r>
            <a:endParaRPr lang="en-US" sz="1400" dirty="0"/>
          </a:p>
        </p:txBody>
      </p:sp>
      <p:sp>
        <p:nvSpPr>
          <p:cNvPr id="12" name="Text 10"/>
          <p:cNvSpPr/>
          <p:nvPr/>
        </p:nvSpPr>
        <p:spPr>
          <a:xfrm>
            <a:off x="9616140" y="1231769"/>
            <a:ext cx="1965970" cy="581124"/>
          </a:xfrm>
          <a:prstGeom prst="rect">
            <a:avLst/>
          </a:prstGeom>
          <a:noFill/>
          <a:ln/>
        </p:spPr>
        <p:txBody>
          <a:bodyPr wrap="none" lIns="0" tIns="0" rIns="0" bIns="0" rtlCol="0" anchor="t"/>
          <a:lstStyle/>
          <a:p>
            <a:pPr marL="0" indent="0" algn="l">
              <a:lnSpc>
                <a:spcPct val="87000"/>
              </a:lnSpc>
              <a:buNone/>
            </a:pPr>
            <a:r>
              <a:rPr lang="en-US" sz="4400" kern="100" spc="-79" dirty="0">
                <a:solidFill>
                  <a:srgbClr val="35233F"/>
                </a:solidFill>
                <a:latin typeface="Parkinsans SemiBold" pitchFamily="34" charset="0"/>
                <a:ea typeface="Parkinsans SemiBold" pitchFamily="34" charset="-122"/>
                <a:cs typeface="Parkinsans SemiBold" pitchFamily="34" charset="0"/>
              </a:rPr>
              <a:t>80</a:t>
            </a:r>
            <a:r>
              <a:rPr lang="en-US" sz="2000" kern="100" spc="-79" dirty="0">
                <a:solidFill>
                  <a:srgbClr val="35233F"/>
                </a:solidFill>
                <a:latin typeface="Parkinsans SemiBold" pitchFamily="34" charset="0"/>
                <a:ea typeface="Parkinsans SemiBold" pitchFamily="34" charset="-122"/>
                <a:cs typeface="Parkinsans SemiBold" pitchFamily="34" charset="0"/>
              </a:rPr>
              <a:t>%</a:t>
            </a:r>
            <a:endParaRPr lang="en-US" sz="4400" dirty="0"/>
          </a:p>
        </p:txBody>
      </p:sp>
      <p:sp>
        <p:nvSpPr>
          <p:cNvPr id="13" name="Text 11"/>
          <p:cNvSpPr/>
          <p:nvPr/>
        </p:nvSpPr>
        <p:spPr>
          <a:xfrm>
            <a:off x="9616140" y="1975961"/>
            <a:ext cx="1965970" cy="72003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5E4B68"/>
                </a:solidFill>
                <a:latin typeface="Reddit Sans" pitchFamily="34" charset="0"/>
                <a:ea typeface="Reddit Sans" pitchFamily="34" charset="-122"/>
                <a:cs typeface="Reddit Sans" pitchFamily="34" charset="0"/>
              </a:rPr>
              <a:t>baseline retrieval accuracy — 8/10 questions</a:t>
            </a:r>
            <a:endParaRPr lang="en-US" sz="1400" dirty="0"/>
          </a:p>
        </p:txBody>
      </p:sp>
      <p:sp>
        <p:nvSpPr>
          <p:cNvPr id="14" name="Shape 12"/>
          <p:cNvSpPr/>
          <p:nvPr/>
        </p:nvSpPr>
        <p:spPr>
          <a:xfrm>
            <a:off x="609585" y="2917924"/>
            <a:ext cx="489930" cy="366713"/>
          </a:xfrm>
          <a:prstGeom prst="roundRect">
            <a:avLst>
              <a:gd name="adj" fmla="val 17142"/>
            </a:avLst>
          </a:prstGeom>
          <a:solidFill>
            <a:srgbClr val="8054D9"/>
          </a:solidFill>
          <a:ln w="12700">
            <a:solidFill>
              <a:srgbClr val="C6BBDC"/>
            </a:solidFill>
            <a:prstDash val="solid"/>
          </a:ln>
        </p:spPr>
      </p:sp>
      <p:sp>
        <p:nvSpPr>
          <p:cNvPr id="15" name="Text 13"/>
          <p:cNvSpPr/>
          <p:nvPr/>
        </p:nvSpPr>
        <p:spPr>
          <a:xfrm>
            <a:off x="727057" y="2996505"/>
            <a:ext cx="864571"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01</a:t>
            </a:r>
            <a:endParaRPr lang="en-US" sz="1650" dirty="0"/>
          </a:p>
        </p:txBody>
      </p:sp>
      <p:sp>
        <p:nvSpPr>
          <p:cNvPr id="16" name="Text 14"/>
          <p:cNvSpPr/>
          <p:nvPr/>
        </p:nvSpPr>
        <p:spPr>
          <a:xfrm>
            <a:off x="1277310" y="2937768"/>
            <a:ext cx="10304800"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Plain search</a:t>
            </a:r>
            <a:endParaRPr lang="en-US" sz="2000" dirty="0"/>
          </a:p>
        </p:txBody>
      </p:sp>
      <p:sp>
        <p:nvSpPr>
          <p:cNvPr id="17" name="Text 15"/>
          <p:cNvSpPr/>
          <p:nvPr/>
        </p:nvSpPr>
        <p:spPr>
          <a:xfrm>
            <a:off x="1277310" y="3393619"/>
            <a:ext cx="10304800" cy="303808"/>
          </a:xfrm>
          <a:prstGeom prst="rect">
            <a:avLst/>
          </a:prstGeom>
          <a:noFill/>
          <a:ln/>
        </p:spPr>
        <p:txBody>
          <a:bodyPr wrap="none" lIns="0" tIns="0" rIns="0" bIns="0" rtlCol="0" anchor="t"/>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Correct passage ranking: </a:t>
            </a:r>
            <a:r>
              <a:rPr lang="en-US" sz="1650" b="1" dirty="0">
                <a:solidFill>
                  <a:srgbClr val="35233F"/>
                </a:solidFill>
                <a:latin typeface="Reddit Sans Bold" pitchFamily="34" charset="0"/>
                <a:ea typeface="Reddit Sans Bold" pitchFamily="34" charset="-122"/>
                <a:cs typeface="Reddit Sans Bold" pitchFamily="34" charset="0"/>
              </a:rPr>
              <a:t>#127</a:t>
            </a:r>
            <a:endParaRPr lang="en-US" sz="1650" dirty="0"/>
          </a:p>
        </p:txBody>
      </p:sp>
      <p:sp>
        <p:nvSpPr>
          <p:cNvPr id="18" name="Shape 16"/>
          <p:cNvSpPr/>
          <p:nvPr/>
        </p:nvSpPr>
        <p:spPr>
          <a:xfrm>
            <a:off x="609585" y="4154388"/>
            <a:ext cx="489930" cy="366713"/>
          </a:xfrm>
          <a:prstGeom prst="roundRect">
            <a:avLst>
              <a:gd name="adj" fmla="val 17142"/>
            </a:avLst>
          </a:prstGeom>
          <a:solidFill>
            <a:srgbClr val="8054D9"/>
          </a:solidFill>
          <a:ln w="12700">
            <a:solidFill>
              <a:srgbClr val="C6BBDC"/>
            </a:solidFill>
            <a:prstDash val="solid"/>
          </a:ln>
        </p:spPr>
      </p:sp>
      <p:sp>
        <p:nvSpPr>
          <p:cNvPr id="19" name="Text 17"/>
          <p:cNvSpPr/>
          <p:nvPr/>
        </p:nvSpPr>
        <p:spPr>
          <a:xfrm>
            <a:off x="727057" y="4232970"/>
            <a:ext cx="864571"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02</a:t>
            </a:r>
            <a:endParaRPr lang="en-US" sz="1650" dirty="0"/>
          </a:p>
        </p:txBody>
      </p:sp>
      <p:sp>
        <p:nvSpPr>
          <p:cNvPr id="20" name="Text 18"/>
          <p:cNvSpPr/>
          <p:nvPr/>
        </p:nvSpPr>
        <p:spPr>
          <a:xfrm>
            <a:off x="1277310" y="4174232"/>
            <a:ext cx="10304800"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Chunk context</a:t>
            </a:r>
            <a:endParaRPr lang="en-US" sz="2000" dirty="0"/>
          </a:p>
        </p:txBody>
      </p:sp>
      <p:sp>
        <p:nvSpPr>
          <p:cNvPr id="21" name="Text 19"/>
          <p:cNvSpPr/>
          <p:nvPr/>
        </p:nvSpPr>
        <p:spPr>
          <a:xfrm>
            <a:off x="1277310" y="4630083"/>
            <a:ext cx="10304800" cy="303808"/>
          </a:xfrm>
          <a:prstGeom prst="rect">
            <a:avLst/>
          </a:prstGeom>
          <a:noFill/>
          <a:ln/>
        </p:spPr>
        <p:txBody>
          <a:bodyPr wrap="none" lIns="0" tIns="0" rIns="0" bIns="0" rtlCol="0" anchor="t"/>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Correct passage ranking: </a:t>
            </a:r>
            <a:r>
              <a:rPr lang="en-US" sz="1650" b="1" dirty="0">
                <a:solidFill>
                  <a:srgbClr val="35233F"/>
                </a:solidFill>
                <a:latin typeface="Reddit Sans Bold" pitchFamily="34" charset="0"/>
                <a:ea typeface="Reddit Sans Bold" pitchFamily="34" charset="-122"/>
                <a:cs typeface="Reddit Sans Bold" pitchFamily="34" charset="0"/>
              </a:rPr>
              <a:t>#24</a:t>
            </a:r>
            <a:endParaRPr lang="en-US" sz="1650" dirty="0"/>
          </a:p>
        </p:txBody>
      </p:sp>
      <p:sp>
        <p:nvSpPr>
          <p:cNvPr id="22" name="Shape 20"/>
          <p:cNvSpPr/>
          <p:nvPr/>
        </p:nvSpPr>
        <p:spPr>
          <a:xfrm>
            <a:off x="609585" y="5390852"/>
            <a:ext cx="489930" cy="366713"/>
          </a:xfrm>
          <a:prstGeom prst="roundRect">
            <a:avLst>
              <a:gd name="adj" fmla="val 17142"/>
            </a:avLst>
          </a:prstGeom>
          <a:solidFill>
            <a:srgbClr val="8054D9"/>
          </a:solidFill>
          <a:ln w="12700">
            <a:solidFill>
              <a:srgbClr val="C6BBDC"/>
            </a:solidFill>
            <a:prstDash val="solid"/>
          </a:ln>
        </p:spPr>
      </p:sp>
      <p:sp>
        <p:nvSpPr>
          <p:cNvPr id="23" name="Text 21"/>
          <p:cNvSpPr/>
          <p:nvPr/>
        </p:nvSpPr>
        <p:spPr>
          <a:xfrm>
            <a:off x="727057" y="5469434"/>
            <a:ext cx="864571" cy="209550"/>
          </a:xfrm>
          <a:prstGeom prst="rect">
            <a:avLst/>
          </a:prstGeom>
          <a:noFill/>
          <a:ln/>
        </p:spPr>
        <p:txBody>
          <a:bodyPr wrap="none" lIns="0" tIns="0" rIns="0" bIns="0" rtlCol="0" anchor="t"/>
          <a:lstStyle/>
          <a:p>
            <a:pPr marL="0" indent="0" algn="l">
              <a:lnSpc>
                <a:spcPct val="83000"/>
              </a:lnSpc>
              <a:buNone/>
            </a:pPr>
            <a:r>
              <a:rPr lang="en-US" sz="1650" dirty="0">
                <a:solidFill>
                  <a:srgbClr val="FFFFFF"/>
                </a:solidFill>
                <a:latin typeface="Reddit Sans SemiBold" pitchFamily="34" charset="0"/>
                <a:ea typeface="Reddit Sans SemiBold" pitchFamily="34" charset="-122"/>
                <a:cs typeface="Reddit Sans SemiBold" pitchFamily="34" charset="0"/>
              </a:rPr>
              <a:t>03</a:t>
            </a:r>
            <a:endParaRPr lang="en-US" sz="1650" dirty="0"/>
          </a:p>
        </p:txBody>
      </p:sp>
      <p:sp>
        <p:nvSpPr>
          <p:cNvPr id="24" name="Text 22"/>
          <p:cNvSpPr/>
          <p:nvPr/>
        </p:nvSpPr>
        <p:spPr>
          <a:xfrm>
            <a:off x="1277310" y="5410696"/>
            <a:ext cx="10304800"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Query rewriting</a:t>
            </a:r>
            <a:endParaRPr lang="en-US" sz="2000" dirty="0"/>
          </a:p>
        </p:txBody>
      </p:sp>
      <p:sp>
        <p:nvSpPr>
          <p:cNvPr id="25" name="Text 23"/>
          <p:cNvSpPr/>
          <p:nvPr/>
        </p:nvSpPr>
        <p:spPr>
          <a:xfrm>
            <a:off x="1277310" y="5866547"/>
            <a:ext cx="10304800" cy="303808"/>
          </a:xfrm>
          <a:prstGeom prst="rect">
            <a:avLst/>
          </a:prstGeom>
          <a:noFill/>
          <a:ln/>
        </p:spPr>
        <p:txBody>
          <a:bodyPr wrap="none" lIns="0" tIns="0" rIns="0" bIns="0" rtlCol="0" anchor="t"/>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Correct passage ranking: </a:t>
            </a:r>
            <a:r>
              <a:rPr lang="en-US" sz="1650" b="1" dirty="0">
                <a:solidFill>
                  <a:srgbClr val="35233F"/>
                </a:solidFill>
                <a:latin typeface="Reddit Sans Bold" pitchFamily="34" charset="0"/>
                <a:ea typeface="Reddit Sans Bold" pitchFamily="34" charset="-122"/>
                <a:cs typeface="Reddit Sans Bold" pitchFamily="34" charset="0"/>
              </a:rPr>
              <a:t>#1</a:t>
            </a:r>
            <a:endParaRPr lang="en-US" sz="1650" dirty="0"/>
          </a:p>
        </p:txBody>
      </p:sp>
      <p:sp>
        <p:nvSpPr>
          <p:cNvPr id="26" name="Text 24"/>
          <p:cNvSpPr/>
          <p:nvPr/>
        </p:nvSpPr>
        <p:spPr>
          <a:xfrm>
            <a:off x="609585" y="6329184"/>
            <a:ext cx="11582110" cy="240010"/>
          </a:xfrm>
          <a:prstGeom prst="rect">
            <a:avLst/>
          </a:prstGeom>
          <a:noFill/>
          <a:ln/>
        </p:spPr>
        <p:txBody>
          <a:bodyPr wrap="none" lIns="0" tIns="0" rIns="0" bIns="0" rtlCol="0" anchor="t"/>
          <a:lstStyle/>
          <a:p>
            <a:pPr marL="0" indent="0" algn="l">
              <a:lnSpc>
                <a:spcPct val="112000"/>
              </a:lnSpc>
              <a:buNone/>
            </a:pPr>
            <a:r>
              <a:rPr lang="en-US" sz="1400" b="1" dirty="0">
                <a:solidFill>
                  <a:srgbClr val="5E4B68"/>
                </a:solidFill>
                <a:latin typeface="Reddit Sans Bold" pitchFamily="34" charset="0"/>
                <a:ea typeface="Reddit Sans Bold" pitchFamily="34" charset="-122"/>
                <a:cs typeface="Reddit Sans Bold" pitchFamily="34" charset="0"/>
              </a:rPr>
              <a:t>Improved accuracy remains pending evaluation.</a:t>
            </a:r>
            <a:endParaRPr lang="en-US" sz="1400" dirty="0"/>
          </a:p>
        </p:txBody>
      </p:sp>
      <p:sp>
        <p:nvSpPr>
          <p:cNvPr id="27" name="Shape 25"/>
          <p:cNvSpPr/>
          <p:nvPr/>
        </p:nvSpPr>
        <p:spPr>
          <a:xfrm>
            <a:off x="2797700" y="1181795"/>
            <a:ext cx="12700" cy="1507530"/>
          </a:xfrm>
          <a:prstGeom prst="rect">
            <a:avLst/>
          </a:prstGeom>
          <a:solidFill>
            <a:srgbClr val="8054D9"/>
          </a:solidFill>
          <a:ln/>
        </p:spPr>
      </p:sp>
      <p:sp>
        <p:nvSpPr>
          <p:cNvPr id="28" name="Shape 26"/>
          <p:cNvSpPr/>
          <p:nvPr/>
        </p:nvSpPr>
        <p:spPr>
          <a:xfrm>
            <a:off x="4992166" y="1181795"/>
            <a:ext cx="12700" cy="1507530"/>
          </a:xfrm>
          <a:prstGeom prst="rect">
            <a:avLst/>
          </a:prstGeom>
          <a:solidFill>
            <a:srgbClr val="8054D9"/>
          </a:solidFill>
          <a:ln/>
        </p:spPr>
      </p:sp>
      <p:sp>
        <p:nvSpPr>
          <p:cNvPr id="29" name="Shape 27"/>
          <p:cNvSpPr/>
          <p:nvPr/>
        </p:nvSpPr>
        <p:spPr>
          <a:xfrm>
            <a:off x="7186730" y="1181795"/>
            <a:ext cx="12700" cy="1507530"/>
          </a:xfrm>
          <a:prstGeom prst="rect">
            <a:avLst/>
          </a:prstGeom>
          <a:solidFill>
            <a:srgbClr val="8054D9"/>
          </a:solidFill>
          <a:ln/>
        </p:spPr>
      </p:sp>
      <p:sp>
        <p:nvSpPr>
          <p:cNvPr id="30" name="Shape 28"/>
          <p:cNvSpPr/>
          <p:nvPr/>
        </p:nvSpPr>
        <p:spPr>
          <a:xfrm>
            <a:off x="9381196" y="1181795"/>
            <a:ext cx="12700" cy="1507530"/>
          </a:xfrm>
          <a:prstGeom prst="rect">
            <a:avLst/>
          </a:prstGeom>
          <a:solidFill>
            <a:srgbClr val="8054D9"/>
          </a:solidFill>
          <a:ln/>
        </p:spPr>
      </p:sp>
      <p:sp>
        <p:nvSpPr>
          <p:cNvPr id="31" name="Shape 29"/>
          <p:cNvSpPr/>
          <p:nvPr/>
        </p:nvSpPr>
        <p:spPr>
          <a:xfrm>
            <a:off x="609585" y="3919438"/>
            <a:ext cx="10972526" cy="12700"/>
          </a:xfrm>
          <a:prstGeom prst="rect">
            <a:avLst/>
          </a:prstGeom>
          <a:solidFill>
            <a:srgbClr val="8054D9"/>
          </a:solidFill>
          <a:ln/>
        </p:spPr>
      </p:sp>
      <p:sp>
        <p:nvSpPr>
          <p:cNvPr id="32" name="Shape 30"/>
          <p:cNvSpPr/>
          <p:nvPr/>
        </p:nvSpPr>
        <p:spPr>
          <a:xfrm>
            <a:off x="609585" y="5155902"/>
            <a:ext cx="10972526" cy="12700"/>
          </a:xfrm>
          <a:prstGeom prst="rect">
            <a:avLst/>
          </a:prstGeom>
          <a:solidFill>
            <a:srgbClr val="8054D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0713"/>
            <a:ext cx="11582110" cy="222250"/>
          </a:xfrm>
          <a:prstGeom prst="rect">
            <a:avLst/>
          </a:prstGeom>
          <a:noFill/>
          <a:ln/>
        </p:spPr>
        <p:txBody>
          <a:bodyPr wrap="none" lIns="0" tIns="0" rIns="0" bIns="0" rtlCol="0" anchor="t"/>
          <a:lstStyle/>
          <a:p>
            <a:pPr marL="0" indent="0" algn="l">
              <a:lnSpc>
                <a:spcPct val="104000"/>
              </a:lnSpc>
              <a:buNone/>
            </a:pPr>
            <a:r>
              <a:rPr lang="en-US" sz="1400" kern="100" spc="7" dirty="0">
                <a:solidFill>
                  <a:srgbClr val="8054D9"/>
                </a:solidFill>
                <a:latin typeface="Reddit Sans SemiBold" pitchFamily="34" charset="0"/>
                <a:ea typeface="Reddit Sans SemiBold" pitchFamily="34" charset="-122"/>
                <a:cs typeface="Reddit Sans SemiBold" pitchFamily="34" charset="0"/>
              </a:rPr>
              <a:t>THE PATH FORWARD</a:t>
            </a:r>
            <a:endParaRPr lang="en-US" sz="1400" dirty="0"/>
          </a:p>
        </p:txBody>
      </p:sp>
      <p:sp>
        <p:nvSpPr>
          <p:cNvPr id="3" name="Text 1"/>
          <p:cNvSpPr/>
          <p:nvPr/>
        </p:nvSpPr>
        <p:spPr>
          <a:xfrm>
            <a:off x="609585" y="950722"/>
            <a:ext cx="10972526" cy="877689"/>
          </a:xfrm>
          <a:prstGeom prst="rect">
            <a:avLst/>
          </a:prstGeom>
          <a:noFill/>
          <a:ln/>
        </p:spPr>
        <p:txBody>
          <a:bodyPr wrap="square" lIns="0" tIns="0" rIns="0" bIns="0" rtlCol="0" anchor="t">
            <a:normAutofit lnSpcReduction="10000"/>
          </a:bodyPr>
          <a:lstStyle/>
          <a:p>
            <a:pPr marL="0" indent="0" algn="l">
              <a:lnSpc>
                <a:spcPct val="90000"/>
              </a:lnSpc>
              <a:buNone/>
            </a:pPr>
            <a:r>
              <a:rPr lang="en-US" sz="3200" kern="100" spc="-38" dirty="0">
                <a:solidFill>
                  <a:srgbClr val="35233F"/>
                </a:solidFill>
                <a:latin typeface="Parkinsans SemiBold" pitchFamily="34" charset="0"/>
                <a:ea typeface="Parkinsans SemiBold" pitchFamily="34" charset="-122"/>
                <a:cs typeface="Parkinsans SemiBold" pitchFamily="34" charset="0"/>
              </a:rPr>
              <a:t>Make university knowledge more accessible, traceable and updateable</a:t>
            </a:r>
            <a:endParaRPr lang="en-US" sz="3200" dirty="0"/>
          </a:p>
        </p:txBody>
      </p:sp>
      <p:sp>
        <p:nvSpPr>
          <p:cNvPr id="4" name="Shape 2"/>
          <p:cNvSpPr/>
          <p:nvPr/>
        </p:nvSpPr>
        <p:spPr>
          <a:xfrm>
            <a:off x="609585" y="2001639"/>
            <a:ext cx="4267093" cy="2071291"/>
          </a:xfrm>
          <a:prstGeom prst="roundRect">
            <a:avLst>
              <a:gd name="adj" fmla="val 9105"/>
            </a:avLst>
          </a:prstGeom>
          <a:solidFill>
            <a:srgbClr val="F0E7F4"/>
          </a:solidFill>
          <a:ln/>
        </p:spPr>
      </p:sp>
      <p:pic>
        <p:nvPicPr>
          <p:cNvPr id="5" name="Image 0" descr="preencoded.png"/>
          <p:cNvPicPr>
            <a:picLocks noChangeAspect="1"/>
          </p:cNvPicPr>
          <p:nvPr/>
        </p:nvPicPr>
        <p:blipFill>
          <a:blip r:embed="rId3"/>
          <a:stretch>
            <a:fillRect/>
          </a:stretch>
        </p:blipFill>
        <p:spPr>
          <a:xfrm>
            <a:off x="838179" y="2230239"/>
            <a:ext cx="419090" cy="419100"/>
          </a:xfrm>
          <a:prstGeom prst="rect">
            <a:avLst/>
          </a:prstGeom>
        </p:spPr>
      </p:pic>
      <p:sp>
        <p:nvSpPr>
          <p:cNvPr id="6" name="Text 3"/>
          <p:cNvSpPr/>
          <p:nvPr/>
        </p:nvSpPr>
        <p:spPr>
          <a:xfrm>
            <a:off x="838179" y="2781102"/>
            <a:ext cx="3809905" cy="317500"/>
          </a:xfrm>
          <a:prstGeom prst="rect">
            <a:avLst/>
          </a:prstGeom>
          <a:noFill/>
          <a:ln/>
        </p:spPr>
        <p:txBody>
          <a:bodyPr wrap="none" lIns="0" tIns="0" rIns="0" bIns="0" rtlCol="0" anchor="t"/>
          <a:lstStyle/>
          <a:p>
            <a:pPr marL="0" indent="0" algn="l">
              <a:lnSpc>
                <a:spcPct val="104000"/>
              </a:lnSpc>
              <a:buNone/>
            </a:pPr>
            <a:r>
              <a:rPr lang="en-US" sz="2000" dirty="0">
                <a:solidFill>
                  <a:srgbClr val="35233F"/>
                </a:solidFill>
                <a:latin typeface="Reddit Sans SemiBold" pitchFamily="34" charset="0"/>
                <a:ea typeface="Reddit Sans SemiBold" pitchFamily="34" charset="-122"/>
                <a:cs typeface="Reddit Sans SemiBold" pitchFamily="34" charset="0"/>
              </a:rPr>
              <a:t>Responsible answers</a:t>
            </a:r>
            <a:endParaRPr lang="en-US" sz="2000" dirty="0"/>
          </a:p>
        </p:txBody>
      </p:sp>
      <p:sp>
        <p:nvSpPr>
          <p:cNvPr id="7" name="Text 4"/>
          <p:cNvSpPr/>
          <p:nvPr/>
        </p:nvSpPr>
        <p:spPr>
          <a:xfrm>
            <a:off x="838179" y="3236952"/>
            <a:ext cx="3809905" cy="607616"/>
          </a:xfrm>
          <a:prstGeom prst="rect">
            <a:avLst/>
          </a:prstGeom>
          <a:noFill/>
          <a:ln/>
        </p:spPr>
        <p:txBody>
          <a:bodyPr wrap="square" lIns="0" tIns="0" rIns="0" bIns="0" rtlCol="0" anchor="t">
            <a:normAutofit/>
          </a:bodyPr>
          <a:lstStyle/>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Citations keep the source visible, with no guessing.</a:t>
            </a:r>
            <a:endParaRPr lang="en-US" sz="1650" dirty="0"/>
          </a:p>
        </p:txBody>
      </p:sp>
      <p:sp>
        <p:nvSpPr>
          <p:cNvPr id="8" name="Text 5"/>
          <p:cNvSpPr/>
          <p:nvPr/>
        </p:nvSpPr>
        <p:spPr>
          <a:xfrm>
            <a:off x="5181371" y="2236907"/>
            <a:ext cx="6400739" cy="240010"/>
          </a:xfrm>
          <a:prstGeom prst="rect">
            <a:avLst/>
          </a:prstGeom>
          <a:noFill/>
          <a:ln/>
        </p:spPr>
        <p:txBody>
          <a:bodyPr wrap="none" lIns="0" tIns="0" rIns="0" bIns="0" rtlCol="0" anchor="t"/>
          <a:lstStyle/>
          <a:p>
            <a:pPr marL="0" indent="0" algn="l">
              <a:lnSpc>
                <a:spcPct val="112000"/>
              </a:lnSpc>
              <a:buNone/>
            </a:pPr>
            <a:r>
              <a:rPr lang="en-US" sz="1400" dirty="0">
                <a:solidFill>
                  <a:srgbClr val="5E4B68"/>
                </a:solidFill>
                <a:latin typeface="Reddit Sans" pitchFamily="34" charset="0"/>
                <a:ea typeface="Reddit Sans" pitchFamily="34" charset="-122"/>
                <a:cs typeface="Reddit Sans" pitchFamily="34" charset="0"/>
              </a:rPr>
              <a:t>ROADMAP</a:t>
            </a:r>
            <a:endParaRPr lang="en-US" sz="1400" dirty="0"/>
          </a:p>
        </p:txBody>
      </p:sp>
      <p:sp>
        <p:nvSpPr>
          <p:cNvPr id="9" name="Text 6"/>
          <p:cNvSpPr/>
          <p:nvPr/>
        </p:nvSpPr>
        <p:spPr>
          <a:xfrm>
            <a:off x="5181371" y="2590899"/>
            <a:ext cx="6400739" cy="728266"/>
          </a:xfrm>
          <a:prstGeom prst="rect">
            <a:avLst/>
          </a:prstGeom>
          <a:noFill/>
          <a:ln/>
        </p:spPr>
        <p:txBody>
          <a:bodyPr wrap="square" lIns="0" tIns="0" rIns="0" bIns="0" rtlCol="0" anchor="t"/>
          <a:lstStyle/>
          <a:p>
            <a:pPr marL="0" indent="0" algn="l">
              <a:lnSpc>
                <a:spcPct val="121000"/>
              </a:lnSpc>
              <a:spcAft>
                <a:spcPts val="900"/>
              </a:spcAft>
              <a:buNone/>
            </a:pPr>
            <a:r>
              <a:rPr lang="en-US" sz="1650" dirty="0">
                <a:solidFill>
                  <a:srgbClr val="35233F"/>
                </a:solidFill>
                <a:latin typeface="Reddit Sans" pitchFamily="34" charset="0"/>
                <a:ea typeface="Reddit Sans" pitchFamily="34" charset="-122"/>
                <a:cs typeface="Reddit Sans" pitchFamily="34" charset="0"/>
              </a:rPr>
              <a:t>OCR for scanned PDFs · hybrid search · web/mobile app</a:t>
            </a:r>
            <a:endParaRPr lang="en-US" sz="1650" dirty="0"/>
          </a:p>
          <a:p>
            <a:pPr marL="0" indent="0" algn="l">
              <a:lnSpc>
                <a:spcPct val="121000"/>
              </a:lnSpc>
              <a:buNone/>
            </a:pPr>
            <a:r>
              <a:rPr lang="en-US" sz="1650" dirty="0">
                <a:solidFill>
                  <a:srgbClr val="35233F"/>
                </a:solidFill>
                <a:latin typeface="Reddit Sans" pitchFamily="34" charset="0"/>
                <a:ea typeface="Reddit Sans" pitchFamily="34" charset="-122"/>
                <a:cs typeface="Reddit Sans" pitchFamily="34" charset="0"/>
              </a:rPr>
              <a:t>English/Hindi · voice support</a:t>
            </a:r>
            <a:endParaRPr lang="en-US" sz="1650" dirty="0"/>
          </a:p>
        </p:txBody>
      </p:sp>
      <p:sp>
        <p:nvSpPr>
          <p:cNvPr id="10" name="Shape 7"/>
          <p:cNvSpPr/>
          <p:nvPr/>
        </p:nvSpPr>
        <p:spPr>
          <a:xfrm>
            <a:off x="609585" y="5229126"/>
            <a:ext cx="3620798" cy="31651"/>
          </a:xfrm>
          <a:prstGeom prst="roundRect">
            <a:avLst>
              <a:gd name="adj" fmla="val 49998"/>
            </a:avLst>
          </a:prstGeom>
          <a:solidFill>
            <a:srgbClr val="8054D9"/>
          </a:solidFill>
          <a:ln/>
        </p:spPr>
      </p:sp>
      <p:sp>
        <p:nvSpPr>
          <p:cNvPr id="11" name="Text 8"/>
          <p:cNvSpPr/>
          <p:nvPr/>
        </p:nvSpPr>
        <p:spPr>
          <a:xfrm>
            <a:off x="609585" y="5717250"/>
            <a:ext cx="10972526" cy="581124"/>
          </a:xfrm>
          <a:prstGeom prst="rect">
            <a:avLst/>
          </a:prstGeom>
          <a:noFill/>
          <a:ln/>
        </p:spPr>
        <p:txBody>
          <a:bodyPr wrap="none" lIns="0" tIns="0" rIns="0" bIns="0" rtlCol="0" anchor="t"/>
          <a:lstStyle/>
          <a:p>
            <a:pPr marL="0" indent="0" algn="l">
              <a:lnSpc>
                <a:spcPct val="87000"/>
              </a:lnSpc>
              <a:buNone/>
            </a:pPr>
            <a:r>
              <a:rPr lang="en-US" sz="4400" kern="100" spc="-79" dirty="0">
                <a:solidFill>
                  <a:srgbClr val="35233F"/>
                </a:solidFill>
                <a:latin typeface="Parkinsans SemiBold" pitchFamily="34" charset="0"/>
                <a:ea typeface="Parkinsans SemiBold" pitchFamily="34" charset="-122"/>
                <a:cs typeface="Parkinsans SemiBold" pitchFamily="34" charset="0"/>
              </a:rPr>
              <a:t>Thank You – Questions?</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798</Words>
  <Application>Microsoft Office PowerPoint</Application>
  <PresentationFormat>Widescreen</PresentationFormat>
  <Paragraphs>89</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Reddit Sans SemiBold</vt:lpstr>
      <vt:lpstr>Parkinsans SemiBold</vt:lpstr>
      <vt:lpstr>Reddit Sans</vt:lpstr>
      <vt:lpstr>Reddit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Kishan</dc:creator>
  <cp:lastModifiedBy>Kishan Kumar</cp:lastModifiedBy>
  <cp:revision>5</cp:revision>
  <dcterms:created xsi:type="dcterms:W3CDTF">2026-10-29T15:07:24Z</dcterms:created>
  <dcterms:modified xsi:type="dcterms:W3CDTF">2026-10-29T17:00:35Z</dcterms:modified>
</cp:coreProperties>
</file>